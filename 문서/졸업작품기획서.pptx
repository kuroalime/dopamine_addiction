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334" r:id="rId4"/>
    <p:sldId id="335" r:id="rId5"/>
    <p:sldId id="340" r:id="rId6"/>
    <p:sldId id="341" r:id="rId7"/>
    <p:sldId id="336" r:id="rId8"/>
    <p:sldId id="337" r:id="rId9"/>
    <p:sldId id="350" r:id="rId10"/>
    <p:sldId id="351" r:id="rId11"/>
    <p:sldId id="338" r:id="rId12"/>
    <p:sldId id="339" r:id="rId13"/>
    <p:sldId id="342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2" r:id="rId22"/>
  </p:sldIdLst>
  <p:sldSz cx="18288000" cy="10287000"/>
  <p:notesSz cx="6858000" cy="9144000"/>
  <p:embeddedFontLst>
    <p:embeddedFont>
      <p:font typeface="Pretendard Bold" panose="020B0600000101010101" charset="-127"/>
      <p:bold r:id="rId24"/>
    </p:embeddedFont>
    <p:embeddedFont>
      <p:font typeface="Pretendard Medium" panose="020B0600000101010101" charset="-127"/>
      <p:bold r:id="rId25"/>
    </p:embeddedFont>
    <p:embeddedFont>
      <p:font typeface="맑은 고딕" panose="020B0503020000020004" pitchFamily="50" charset="-127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8830"/>
    <a:srgbClr val="FFAFAF"/>
    <a:srgbClr val="F2F2F2"/>
    <a:srgbClr val="FEF6F0"/>
    <a:srgbClr val="C49F42"/>
    <a:srgbClr val="F1ECE7"/>
    <a:srgbClr val="E4E4E4"/>
    <a:srgbClr val="4F81BD"/>
    <a:srgbClr val="F7B37B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DAD61-63D4-4340-97C2-B0E44BACCAE9}" v="1" dt="2025-04-13T13:15:34.779"/>
    <p1510:client id="{742C7628-5346-4AFF-A293-B8D9DCA81451}" v="131" dt="2025-04-13T12:54:01.3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3" autoAdjust="0"/>
    <p:restoredTop sz="85907" autoAdjust="0"/>
  </p:normalViewPr>
  <p:slideViewPr>
    <p:cSldViewPr>
      <p:cViewPr>
        <p:scale>
          <a:sx n="66" d="100"/>
          <a:sy n="66" d="100"/>
        </p:scale>
        <p:origin x="2664" y="9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N HYEONG GIL" userId="a6187868c7f49b91" providerId="LiveId" clId="{001DAD61-63D4-4340-97C2-B0E44BACCAE9}"/>
    <pc:docChg chg="custSel modSld">
      <pc:chgData name="JUN HYEONG GIL" userId="a6187868c7f49b91" providerId="LiveId" clId="{001DAD61-63D4-4340-97C2-B0E44BACCAE9}" dt="2025-04-13T13:15:47.012" v="18" actId="1035"/>
      <pc:docMkLst>
        <pc:docMk/>
      </pc:docMkLst>
      <pc:sldChg chg="addSp delSp modSp mod">
        <pc:chgData name="JUN HYEONG GIL" userId="a6187868c7f49b91" providerId="LiveId" clId="{001DAD61-63D4-4340-97C2-B0E44BACCAE9}" dt="2025-04-13T13:15:47.012" v="18" actId="1035"/>
        <pc:sldMkLst>
          <pc:docMk/>
          <pc:sldMk cId="2738763669" sldId="285"/>
        </pc:sldMkLst>
        <pc:picChg chg="add mod">
          <ac:chgData name="JUN HYEONG GIL" userId="a6187868c7f49b91" providerId="LiveId" clId="{001DAD61-63D4-4340-97C2-B0E44BACCAE9}" dt="2025-04-13T13:15:47.012" v="18" actId="1035"/>
          <ac:picMkLst>
            <pc:docMk/>
            <pc:sldMk cId="2738763669" sldId="285"/>
            <ac:picMk id="12" creationId="{FC4FA49B-AA4A-A646-8928-AA32E3C6A053}"/>
          </ac:picMkLst>
        </pc:picChg>
        <pc:picChg chg="del">
          <ac:chgData name="JUN HYEONG GIL" userId="a6187868c7f49b91" providerId="LiveId" clId="{001DAD61-63D4-4340-97C2-B0E44BACCAE9}" dt="2025-04-13T13:15:44.914" v="12" actId="478"/>
          <ac:picMkLst>
            <pc:docMk/>
            <pc:sldMk cId="2738763669" sldId="285"/>
            <ac:picMk id="13" creationId="{469562C1-82ED-F711-FEA7-6732203DF8C4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53025-7535-4303-B8B1-A34C72F6FD59}" type="datetimeFigureOut">
              <a:rPr lang="ko-KR" altLang="en-US" smtClean="0"/>
              <a:t>2025-06-10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671C6A-4769-4BAB-AF36-DF68CEAA25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36905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71C6A-4769-4BAB-AF36-DF68CEAA254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451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71C6A-4769-4BAB-AF36-DF68CEAA254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911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BAD24-EDA6-6919-81EF-0B0F7D5C1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8A796C-8392-7C28-6C72-3B7B5FEF50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ED36F09-EE30-0871-277F-7496FFF09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064A8D-3871-6071-74AD-04781075D5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71C6A-4769-4BAB-AF36-DF68CEAA254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1188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9DB53-1AA3-3E81-AB50-448A90D3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39CACC-CB30-9044-22E1-02C484086D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603675-FA5A-38A7-08E7-0DEF695592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29DE6-CCD9-7282-D5A7-5A5E9154FB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71C6A-4769-4BAB-AF36-DF68CEAA254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500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05C86-ED3E-042A-BC45-79102717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8928E0-1939-700A-1E97-9347DBCD4E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CBC4B1-4AF0-DE08-D356-EF08809C6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7AE8D1-5616-BE00-AE65-BB08D8CA83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71C6A-4769-4BAB-AF36-DF68CEAA2544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181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B6C9-A76B-2509-CC01-6651C36B6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232A69-3611-7B42-C96A-D46049E2CF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D2C0DE-6F52-0125-5318-9D3A0957A2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B54D5F-8BC4-694A-E1C2-3A577D95A0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71C6A-4769-4BAB-AF36-DF68CEAA2544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04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1A1AEC-E772-9011-6A0C-978EF47D4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5183BE-8721-9D5A-7EFF-787F4C3BF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97CF0E3-977B-670E-F3A9-123CCABE6D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37A8A7-3488-AA0B-3B98-957D194E25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671C6A-4769-4BAB-AF36-DF68CEAA2544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041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8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12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svg"/><Relationship Id="rId7" Type="http://schemas.openxmlformats.org/officeDocument/2006/relationships/image" Target="../media/image25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29.svg"/><Relationship Id="rId5" Type="http://schemas.openxmlformats.org/officeDocument/2006/relationships/image" Target="../media/image14.svg"/><Relationship Id="rId10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27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3.svg"/><Relationship Id="rId3" Type="http://schemas.openxmlformats.org/officeDocument/2006/relationships/image" Target="../media/image12.svg"/><Relationship Id="rId7" Type="http://schemas.openxmlformats.org/officeDocument/2006/relationships/image" Target="../media/image31.svg"/><Relationship Id="rId12" Type="http://schemas.openxmlformats.org/officeDocument/2006/relationships/image" Target="../media/image3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29.svg"/><Relationship Id="rId5" Type="http://schemas.openxmlformats.org/officeDocument/2006/relationships/image" Target="../media/image14.svg"/><Relationship Id="rId15" Type="http://schemas.openxmlformats.org/officeDocument/2006/relationships/image" Target="../media/image35.svg"/><Relationship Id="rId10" Type="http://schemas.openxmlformats.org/officeDocument/2006/relationships/image" Target="../media/image28.png"/><Relationship Id="rId4" Type="http://schemas.openxmlformats.org/officeDocument/2006/relationships/image" Target="../media/image13.png"/><Relationship Id="rId9" Type="http://schemas.openxmlformats.org/officeDocument/2006/relationships/image" Target="../media/image27.svg"/><Relationship Id="rId1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Relationship Id="rId9" Type="http://schemas.openxmlformats.org/officeDocument/2006/relationships/image" Target="../media/image3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8.svg"/><Relationship Id="rId7" Type="http://schemas.openxmlformats.org/officeDocument/2006/relationships/image" Target="../media/image21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39.svg"/><Relationship Id="rId5" Type="http://schemas.openxmlformats.org/officeDocument/2006/relationships/image" Target="../media/image12.svg"/><Relationship Id="rId10" Type="http://schemas.openxmlformats.org/officeDocument/2006/relationships/image" Target="../media/image38.png"/><Relationship Id="rId4" Type="http://schemas.openxmlformats.org/officeDocument/2006/relationships/image" Target="../media/image11.png"/><Relationship Id="rId9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49.svg"/><Relationship Id="rId3" Type="http://schemas.openxmlformats.org/officeDocument/2006/relationships/image" Target="../media/image4.png"/><Relationship Id="rId7" Type="http://schemas.openxmlformats.org/officeDocument/2006/relationships/image" Target="../media/image16.sv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47.svg"/><Relationship Id="rId5" Type="http://schemas.openxmlformats.org/officeDocument/2006/relationships/image" Target="../media/image45.svg"/><Relationship Id="rId10" Type="http://schemas.openxmlformats.org/officeDocument/2006/relationships/image" Target="../media/image46.png"/><Relationship Id="rId4" Type="http://schemas.openxmlformats.org/officeDocument/2006/relationships/image" Target="../media/image44.png"/><Relationship Id="rId9" Type="http://schemas.openxmlformats.org/officeDocument/2006/relationships/image" Target="../media/image21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51.svg"/><Relationship Id="rId4" Type="http://schemas.openxmlformats.org/officeDocument/2006/relationships/image" Target="../media/image50.png"/><Relationship Id="rId9" Type="http://schemas.openxmlformats.org/officeDocument/2006/relationships/image" Target="../media/image1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1850" y="6362700"/>
            <a:ext cx="11544300" cy="901700"/>
          </a:xfrm>
          <a:prstGeom prst="rect">
            <a:avLst/>
          </a:prstGeom>
        </p:spPr>
      </p:pic>
      <p:sp>
        <p:nvSpPr>
          <p:cNvPr id="25" name="TextBox 25"/>
          <p:cNvSpPr txBox="1"/>
          <p:nvPr/>
        </p:nvSpPr>
        <p:spPr>
          <a:xfrm>
            <a:off x="6813550" y="3086100"/>
            <a:ext cx="4660900" cy="2933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9600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졸업작품</a:t>
            </a:r>
            <a:endParaRPr lang="en-US" altLang="ko-KR" sz="9600" dirty="0">
              <a:solidFill>
                <a:srgbClr val="F28830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lvl="0" algn="ctr">
              <a:lnSpc>
                <a:spcPct val="99600"/>
              </a:lnSpc>
            </a:pPr>
            <a:r>
              <a:rPr lang="ko-KR" altLang="en-US" sz="9600" b="0" i="0" u="none" strike="noStrike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기획서</a:t>
            </a:r>
            <a:endParaRPr lang="en-US" sz="9600" b="0" i="0" u="none" strike="noStrike" dirty="0">
              <a:solidFill>
                <a:srgbClr val="F2883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3752850" y="6502400"/>
            <a:ext cx="10782300" cy="6223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3500" dirty="0">
                <a:solidFill>
                  <a:srgbClr val="000000"/>
                </a:solidFill>
                <a:ea typeface="Pretendard Medium"/>
              </a:rPr>
              <a:t>게임공학과</a:t>
            </a:r>
            <a:endParaRPr lang="en-US" sz="3500" b="0" i="0" u="none" strike="noStrike" dirty="0">
              <a:solidFill>
                <a:srgbClr val="000000"/>
              </a:solidFill>
              <a:latin typeface="Pretendard Medium"/>
            </a:endParaRPr>
          </a:p>
        </p:txBody>
      </p:sp>
      <p:pic>
        <p:nvPicPr>
          <p:cNvPr id="6" name="그림 5" descr="텍스트, 폰트, 로고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3E381E0-7973-9FC3-E2C9-EAE910CB10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258300"/>
            <a:ext cx="3325091" cy="1028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654" y="4070350"/>
            <a:ext cx="2032000" cy="431800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471054" y="4502150"/>
            <a:ext cx="5283200" cy="1282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sz="7200" b="0" i="0" u="none" strike="noStrike" dirty="0">
                <a:solidFill>
                  <a:srgbClr val="000000"/>
                </a:solidFill>
                <a:ea typeface="Pretendard Bold"/>
              </a:rPr>
              <a:t>목차</a:t>
            </a:r>
            <a:r>
              <a:rPr lang="en-US" sz="7200" b="0" i="0" u="none" strike="noStrike" dirty="0">
                <a:solidFill>
                  <a:srgbClr val="000000"/>
                </a:solidFill>
                <a:latin typeface="Pretendard Bold"/>
              </a:rPr>
              <a:t> </a:t>
            </a:r>
            <a:r>
              <a:rPr lang="ko-KR" sz="7200" b="0" i="0" u="none" strike="noStrike" dirty="0">
                <a:solidFill>
                  <a:srgbClr val="000000"/>
                </a:solidFill>
                <a:ea typeface="Pretendard Bold"/>
              </a:rPr>
              <a:t>안내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2261754" y="4108450"/>
            <a:ext cx="1714500" cy="3175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en-US" sz="1800" b="0" i="0" u="none" strike="noStrike" spc="400" dirty="0">
                <a:solidFill>
                  <a:srgbClr val="FFFFFF"/>
                </a:solidFill>
                <a:latin typeface="Pretendard Medium"/>
              </a:rPr>
              <a:t>CONTENTS</a:t>
            </a:r>
          </a:p>
        </p:txBody>
      </p:sp>
      <p:sp>
        <p:nvSpPr>
          <p:cNvPr id="59" name="순서도: 판단 58">
            <a:extLst>
              <a:ext uri="{FF2B5EF4-FFF2-40B4-BE49-F238E27FC236}">
                <a16:creationId xmlns:a16="http://schemas.microsoft.com/office/drawing/2014/main" id="{B4FDE9EA-CD70-C68E-D615-5345AA46C7B3}"/>
              </a:ext>
            </a:extLst>
          </p:cNvPr>
          <p:cNvSpPr/>
          <p:nvPr/>
        </p:nvSpPr>
        <p:spPr>
          <a:xfrm>
            <a:off x="6881379" y="1946564"/>
            <a:ext cx="3048000" cy="4343400"/>
          </a:xfrm>
          <a:prstGeom prst="flowChartDecision">
            <a:avLst/>
          </a:prstGeom>
          <a:noFill/>
          <a:ln w="38100"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역할 분담</a:t>
            </a:r>
          </a:p>
        </p:txBody>
      </p:sp>
      <p:sp>
        <p:nvSpPr>
          <p:cNvPr id="70" name="순서도: 판단 69">
            <a:extLst>
              <a:ext uri="{FF2B5EF4-FFF2-40B4-BE49-F238E27FC236}">
                <a16:creationId xmlns:a16="http://schemas.microsoft.com/office/drawing/2014/main" id="{5864477F-1BC4-CB08-1C8E-C2D6F35DD012}"/>
              </a:ext>
            </a:extLst>
          </p:cNvPr>
          <p:cNvSpPr/>
          <p:nvPr/>
        </p:nvSpPr>
        <p:spPr>
          <a:xfrm>
            <a:off x="8614929" y="4242955"/>
            <a:ext cx="3048000" cy="4343400"/>
          </a:xfrm>
          <a:prstGeom prst="flowChartDecision">
            <a:avLst/>
          </a:prstGeom>
          <a:noFill/>
          <a:ln w="38100"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게임 개요</a:t>
            </a:r>
          </a:p>
        </p:txBody>
      </p:sp>
      <p:sp>
        <p:nvSpPr>
          <p:cNvPr id="71" name="순서도: 판단 70">
            <a:extLst>
              <a:ext uri="{FF2B5EF4-FFF2-40B4-BE49-F238E27FC236}">
                <a16:creationId xmlns:a16="http://schemas.microsoft.com/office/drawing/2014/main" id="{52302CA9-8E7B-4A06-920E-0735E2546BAB}"/>
              </a:ext>
            </a:extLst>
          </p:cNvPr>
          <p:cNvSpPr/>
          <p:nvPr/>
        </p:nvSpPr>
        <p:spPr>
          <a:xfrm>
            <a:off x="10352809" y="1946564"/>
            <a:ext cx="3048000" cy="4343400"/>
          </a:xfrm>
          <a:prstGeom prst="flowChartDecision">
            <a:avLst/>
          </a:prstGeom>
          <a:noFill/>
          <a:ln w="38100"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게임 플레이</a:t>
            </a:r>
          </a:p>
        </p:txBody>
      </p:sp>
      <p:sp>
        <p:nvSpPr>
          <p:cNvPr id="72" name="순서도: 판단 71">
            <a:extLst>
              <a:ext uri="{FF2B5EF4-FFF2-40B4-BE49-F238E27FC236}">
                <a16:creationId xmlns:a16="http://schemas.microsoft.com/office/drawing/2014/main" id="{67C1B215-D654-B946-3D5E-C7795F293695}"/>
              </a:ext>
            </a:extLst>
          </p:cNvPr>
          <p:cNvSpPr/>
          <p:nvPr/>
        </p:nvSpPr>
        <p:spPr>
          <a:xfrm>
            <a:off x="12096750" y="4242955"/>
            <a:ext cx="3048000" cy="4343400"/>
          </a:xfrm>
          <a:prstGeom prst="flowChartDecision">
            <a:avLst/>
          </a:prstGeom>
          <a:noFill/>
          <a:ln w="38100"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언리얼</a:t>
            </a:r>
            <a:r>
              <a:rPr lang="ko-KR" altLang="en-US" sz="4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엔진</a:t>
            </a:r>
          </a:p>
        </p:txBody>
      </p:sp>
      <p:sp>
        <p:nvSpPr>
          <p:cNvPr id="73" name="순서도: 판단 72">
            <a:extLst>
              <a:ext uri="{FF2B5EF4-FFF2-40B4-BE49-F238E27FC236}">
                <a16:creationId xmlns:a16="http://schemas.microsoft.com/office/drawing/2014/main" id="{1D4DAA66-787B-6B9D-7EC2-0BAC69D6B88D}"/>
              </a:ext>
            </a:extLst>
          </p:cNvPr>
          <p:cNvSpPr/>
          <p:nvPr/>
        </p:nvSpPr>
        <p:spPr>
          <a:xfrm>
            <a:off x="13812982" y="1946564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순서도: 판단 73">
            <a:extLst>
              <a:ext uri="{FF2B5EF4-FFF2-40B4-BE49-F238E27FC236}">
                <a16:creationId xmlns:a16="http://schemas.microsoft.com/office/drawing/2014/main" id="{F81FD604-C268-A482-22A1-F9EC50982797}"/>
              </a:ext>
            </a:extLst>
          </p:cNvPr>
          <p:cNvSpPr/>
          <p:nvPr/>
        </p:nvSpPr>
        <p:spPr>
          <a:xfrm>
            <a:off x="8614929" y="-387638"/>
            <a:ext cx="3048000" cy="4343400"/>
          </a:xfrm>
          <a:prstGeom prst="flowChartDecision">
            <a:avLst/>
          </a:prstGeom>
          <a:solidFill>
            <a:schemeClr val="accent6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순서도: 판단 74">
            <a:extLst>
              <a:ext uri="{FF2B5EF4-FFF2-40B4-BE49-F238E27FC236}">
                <a16:creationId xmlns:a16="http://schemas.microsoft.com/office/drawing/2014/main" id="{C908D885-B56F-9B7F-1D91-DC94D68B660C}"/>
              </a:ext>
            </a:extLst>
          </p:cNvPr>
          <p:cNvSpPr/>
          <p:nvPr/>
        </p:nvSpPr>
        <p:spPr>
          <a:xfrm>
            <a:off x="12096750" y="-387638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순서도: 판단 75">
            <a:extLst>
              <a:ext uri="{FF2B5EF4-FFF2-40B4-BE49-F238E27FC236}">
                <a16:creationId xmlns:a16="http://schemas.microsoft.com/office/drawing/2014/main" id="{AA144B95-6307-2246-00F5-A787B584563F}"/>
              </a:ext>
            </a:extLst>
          </p:cNvPr>
          <p:cNvSpPr/>
          <p:nvPr/>
        </p:nvSpPr>
        <p:spPr>
          <a:xfrm>
            <a:off x="10352809" y="-2706469"/>
            <a:ext cx="3048000" cy="4343400"/>
          </a:xfrm>
          <a:prstGeom prst="flowChartDecision">
            <a:avLst/>
          </a:prstGeom>
          <a:solidFill>
            <a:schemeClr val="accent6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순서도: 판단 76">
            <a:extLst>
              <a:ext uri="{FF2B5EF4-FFF2-40B4-BE49-F238E27FC236}">
                <a16:creationId xmlns:a16="http://schemas.microsoft.com/office/drawing/2014/main" id="{04B524BD-1D4F-82C3-5829-F696DB52F2FB}"/>
              </a:ext>
            </a:extLst>
          </p:cNvPr>
          <p:cNvSpPr/>
          <p:nvPr/>
        </p:nvSpPr>
        <p:spPr>
          <a:xfrm>
            <a:off x="10352809" y="6584373"/>
            <a:ext cx="3048000" cy="4343400"/>
          </a:xfrm>
          <a:prstGeom prst="flowChartDecision">
            <a:avLst/>
          </a:prstGeom>
          <a:solidFill>
            <a:schemeClr val="accent6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순서도: 판단 77">
            <a:extLst>
              <a:ext uri="{FF2B5EF4-FFF2-40B4-BE49-F238E27FC236}">
                <a16:creationId xmlns:a16="http://schemas.microsoft.com/office/drawing/2014/main" id="{BF3C1E15-7724-CC1F-8D0B-C6E368C5016E}"/>
              </a:ext>
            </a:extLst>
          </p:cNvPr>
          <p:cNvSpPr/>
          <p:nvPr/>
        </p:nvSpPr>
        <p:spPr>
          <a:xfrm>
            <a:off x="13812982" y="6584373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순서도: 판단 78">
            <a:extLst>
              <a:ext uri="{FF2B5EF4-FFF2-40B4-BE49-F238E27FC236}">
                <a16:creationId xmlns:a16="http://schemas.microsoft.com/office/drawing/2014/main" id="{897F05C7-B68A-EB04-57B5-EFA263324689}"/>
              </a:ext>
            </a:extLst>
          </p:cNvPr>
          <p:cNvSpPr/>
          <p:nvPr/>
        </p:nvSpPr>
        <p:spPr>
          <a:xfrm>
            <a:off x="15558655" y="4242955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순서도: 판단 85">
            <a:extLst>
              <a:ext uri="{FF2B5EF4-FFF2-40B4-BE49-F238E27FC236}">
                <a16:creationId xmlns:a16="http://schemas.microsoft.com/office/drawing/2014/main" id="{3BB7BCC2-0B8F-5376-BE03-BCD08F01435E}"/>
              </a:ext>
            </a:extLst>
          </p:cNvPr>
          <p:cNvSpPr/>
          <p:nvPr/>
        </p:nvSpPr>
        <p:spPr>
          <a:xfrm>
            <a:off x="17281814" y="6584373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7" name="순서도: 판단 86">
            <a:extLst>
              <a:ext uri="{FF2B5EF4-FFF2-40B4-BE49-F238E27FC236}">
                <a16:creationId xmlns:a16="http://schemas.microsoft.com/office/drawing/2014/main" id="{E2FEBFF9-3463-9007-64A3-190BB73A45BE}"/>
              </a:ext>
            </a:extLst>
          </p:cNvPr>
          <p:cNvSpPr/>
          <p:nvPr/>
        </p:nvSpPr>
        <p:spPr>
          <a:xfrm>
            <a:off x="13812982" y="-2706469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4" name="순서도: 판단 93">
            <a:extLst>
              <a:ext uri="{FF2B5EF4-FFF2-40B4-BE49-F238E27FC236}">
                <a16:creationId xmlns:a16="http://schemas.microsoft.com/office/drawing/2014/main" id="{A5459AE1-D130-4078-5DD2-C765F07698CB}"/>
              </a:ext>
            </a:extLst>
          </p:cNvPr>
          <p:cNvSpPr/>
          <p:nvPr/>
        </p:nvSpPr>
        <p:spPr>
          <a:xfrm>
            <a:off x="15558655" y="-387638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순서도: 판단 94">
            <a:extLst>
              <a:ext uri="{FF2B5EF4-FFF2-40B4-BE49-F238E27FC236}">
                <a16:creationId xmlns:a16="http://schemas.microsoft.com/office/drawing/2014/main" id="{80DAAFA9-5931-CCF7-9854-B55FB84034B8}"/>
              </a:ext>
            </a:extLst>
          </p:cNvPr>
          <p:cNvSpPr/>
          <p:nvPr/>
        </p:nvSpPr>
        <p:spPr>
          <a:xfrm>
            <a:off x="17281814" y="1946564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순서도: 판단 106">
            <a:extLst>
              <a:ext uri="{FF2B5EF4-FFF2-40B4-BE49-F238E27FC236}">
                <a16:creationId xmlns:a16="http://schemas.microsoft.com/office/drawing/2014/main" id="{DBDBE503-162B-60D4-6E7E-35A65204D068}"/>
              </a:ext>
            </a:extLst>
          </p:cNvPr>
          <p:cNvSpPr/>
          <p:nvPr/>
        </p:nvSpPr>
        <p:spPr>
          <a:xfrm>
            <a:off x="17281814" y="-2706469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순서도: 판단 107">
            <a:extLst>
              <a:ext uri="{FF2B5EF4-FFF2-40B4-BE49-F238E27FC236}">
                <a16:creationId xmlns:a16="http://schemas.microsoft.com/office/drawing/2014/main" id="{D23177BD-3B15-5AAC-009D-DD15BF2927EC}"/>
              </a:ext>
            </a:extLst>
          </p:cNvPr>
          <p:cNvSpPr/>
          <p:nvPr/>
        </p:nvSpPr>
        <p:spPr>
          <a:xfrm>
            <a:off x="6881379" y="-2706469"/>
            <a:ext cx="3048000" cy="4343400"/>
          </a:xfrm>
          <a:prstGeom prst="flowChartDecision">
            <a:avLst/>
          </a:prstGeom>
          <a:solidFill>
            <a:schemeClr val="accent6"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순서도: 판단 108">
            <a:extLst>
              <a:ext uri="{FF2B5EF4-FFF2-40B4-BE49-F238E27FC236}">
                <a16:creationId xmlns:a16="http://schemas.microsoft.com/office/drawing/2014/main" id="{DDA160DD-3636-621E-29F0-E1DA75A3DD69}"/>
              </a:ext>
            </a:extLst>
          </p:cNvPr>
          <p:cNvSpPr/>
          <p:nvPr/>
        </p:nvSpPr>
        <p:spPr>
          <a:xfrm>
            <a:off x="12096750" y="8995064"/>
            <a:ext cx="3048000" cy="4343400"/>
          </a:xfrm>
          <a:prstGeom prst="flowChartDecision">
            <a:avLst/>
          </a:prstGeom>
          <a:solidFill>
            <a:schemeClr val="accent6">
              <a:alpha val="7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순서도: 판단 109">
            <a:extLst>
              <a:ext uri="{FF2B5EF4-FFF2-40B4-BE49-F238E27FC236}">
                <a16:creationId xmlns:a16="http://schemas.microsoft.com/office/drawing/2014/main" id="{EB495681-670E-3C8C-039C-66F1CF879C12}"/>
              </a:ext>
            </a:extLst>
          </p:cNvPr>
          <p:cNvSpPr/>
          <p:nvPr/>
        </p:nvSpPr>
        <p:spPr>
          <a:xfrm>
            <a:off x="15558655" y="8995064"/>
            <a:ext cx="3048000" cy="4343400"/>
          </a:xfrm>
          <a:prstGeom prst="flowChartDecision">
            <a:avLst/>
          </a:prstGeom>
          <a:solidFill>
            <a:schemeClr val="accent6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순서도: 판단 112">
            <a:extLst>
              <a:ext uri="{FF2B5EF4-FFF2-40B4-BE49-F238E27FC236}">
                <a16:creationId xmlns:a16="http://schemas.microsoft.com/office/drawing/2014/main" id="{30A4D215-5EEA-9C90-8DD0-D9BEED6E9FCE}"/>
              </a:ext>
            </a:extLst>
          </p:cNvPr>
          <p:cNvSpPr/>
          <p:nvPr/>
        </p:nvSpPr>
        <p:spPr>
          <a:xfrm>
            <a:off x="6881379" y="6584373"/>
            <a:ext cx="3048000" cy="4343400"/>
          </a:xfrm>
          <a:prstGeom prst="flowChartDecision">
            <a:avLst/>
          </a:prstGeom>
          <a:solidFill>
            <a:schemeClr val="accent6"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순서도: 판단 114">
            <a:extLst>
              <a:ext uri="{FF2B5EF4-FFF2-40B4-BE49-F238E27FC236}">
                <a16:creationId xmlns:a16="http://schemas.microsoft.com/office/drawing/2014/main" id="{19CC19A1-C4D8-6702-5F13-E7D1DBBB4F8D}"/>
              </a:ext>
            </a:extLst>
          </p:cNvPr>
          <p:cNvSpPr/>
          <p:nvPr/>
        </p:nvSpPr>
        <p:spPr>
          <a:xfrm>
            <a:off x="5154172" y="8995064"/>
            <a:ext cx="3048000" cy="4343400"/>
          </a:xfrm>
          <a:prstGeom prst="flowChartDecision">
            <a:avLst/>
          </a:prstGeom>
          <a:solidFill>
            <a:schemeClr val="accent6">
              <a:alpha val="2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6" name="순서도: 판단 115">
            <a:extLst>
              <a:ext uri="{FF2B5EF4-FFF2-40B4-BE49-F238E27FC236}">
                <a16:creationId xmlns:a16="http://schemas.microsoft.com/office/drawing/2014/main" id="{FABCDDDB-54A5-941C-1978-D16EA11479BD}"/>
              </a:ext>
            </a:extLst>
          </p:cNvPr>
          <p:cNvSpPr/>
          <p:nvPr/>
        </p:nvSpPr>
        <p:spPr>
          <a:xfrm>
            <a:off x="8614929" y="8995064"/>
            <a:ext cx="3048000" cy="4343400"/>
          </a:xfrm>
          <a:prstGeom prst="flowChartDecision">
            <a:avLst/>
          </a:prstGeom>
          <a:solidFill>
            <a:schemeClr val="accent6"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순서도: 판단 119">
            <a:extLst>
              <a:ext uri="{FF2B5EF4-FFF2-40B4-BE49-F238E27FC236}">
                <a16:creationId xmlns:a16="http://schemas.microsoft.com/office/drawing/2014/main" id="{5EF68E24-1C0F-9A02-A3BC-3AE612B59BF3}"/>
              </a:ext>
            </a:extLst>
          </p:cNvPr>
          <p:cNvSpPr/>
          <p:nvPr/>
        </p:nvSpPr>
        <p:spPr>
          <a:xfrm>
            <a:off x="3447767" y="-2706469"/>
            <a:ext cx="3048000" cy="4343400"/>
          </a:xfrm>
          <a:prstGeom prst="flowChartDecision">
            <a:avLst/>
          </a:prstGeom>
          <a:solidFill>
            <a:schemeClr val="accent6">
              <a:alpha val="25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순서도: 판단 120">
            <a:extLst>
              <a:ext uri="{FF2B5EF4-FFF2-40B4-BE49-F238E27FC236}">
                <a16:creationId xmlns:a16="http://schemas.microsoft.com/office/drawing/2014/main" id="{8F3F2220-8868-748B-AE6A-6571261434D8}"/>
              </a:ext>
            </a:extLst>
          </p:cNvPr>
          <p:cNvSpPr/>
          <p:nvPr/>
        </p:nvSpPr>
        <p:spPr>
          <a:xfrm>
            <a:off x="5154172" y="-387638"/>
            <a:ext cx="3048000" cy="4343400"/>
          </a:xfrm>
          <a:prstGeom prst="flowChartDecision">
            <a:avLst/>
          </a:prstGeom>
          <a:solidFill>
            <a:schemeClr val="accent6">
              <a:alpha val="50000"/>
            </a:schemeClr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EE5CDF55-5696-9F2E-C5A4-FCE4EEDE5806}"/>
              </a:ext>
            </a:extLst>
          </p:cNvPr>
          <p:cNvSpPr txBox="1"/>
          <p:nvPr/>
        </p:nvSpPr>
        <p:spPr>
          <a:xfrm>
            <a:off x="7861300" y="266700"/>
            <a:ext cx="25654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2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역할 분담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A57AFCB-A6FC-FF19-7279-8EC243BCEE17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1">
            <a:extLst>
              <a:ext uri="{FF2B5EF4-FFF2-40B4-BE49-F238E27FC236}">
                <a16:creationId xmlns:a16="http://schemas.microsoft.com/office/drawing/2014/main" id="{37C608C5-2BA0-8B9A-2127-4698F82671D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304800" y="1678693"/>
            <a:ext cx="4680000" cy="8265398"/>
          </a:xfrm>
          <a:prstGeom prst="rect">
            <a:avLst/>
          </a:prstGeom>
        </p:spPr>
      </p:pic>
      <p:pic>
        <p:nvPicPr>
          <p:cNvPr id="8" name="Picture 21">
            <a:extLst>
              <a:ext uri="{FF2B5EF4-FFF2-40B4-BE49-F238E27FC236}">
                <a16:creationId xmlns:a16="http://schemas.microsoft.com/office/drawing/2014/main" id="{91D6EC42-5986-C173-7AFC-7753D596F81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334000" y="1678693"/>
            <a:ext cx="4680000" cy="8265398"/>
          </a:xfrm>
          <a:prstGeom prst="rect">
            <a:avLst/>
          </a:prstGeom>
        </p:spPr>
      </p:pic>
      <p:pic>
        <p:nvPicPr>
          <p:cNvPr id="9" name="Picture 21">
            <a:extLst>
              <a:ext uri="{FF2B5EF4-FFF2-40B4-BE49-F238E27FC236}">
                <a16:creationId xmlns:a16="http://schemas.microsoft.com/office/drawing/2014/main" id="{016E9BF3-4D80-A57D-7ED8-A1C5E6A6D3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10363200" y="1688218"/>
            <a:ext cx="7620000" cy="8381993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60784030-45D4-9440-4B08-5C8ABA43C041}"/>
              </a:ext>
            </a:extLst>
          </p:cNvPr>
          <p:cNvCxnSpPr>
            <a:cxnSpLocks/>
          </p:cNvCxnSpPr>
          <p:nvPr/>
        </p:nvCxnSpPr>
        <p:spPr>
          <a:xfrm>
            <a:off x="1082700" y="2857500"/>
            <a:ext cx="3124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7C85A66E-C163-927B-294E-BE5D86DEC11D}"/>
              </a:ext>
            </a:extLst>
          </p:cNvPr>
          <p:cNvCxnSpPr>
            <a:cxnSpLocks/>
          </p:cNvCxnSpPr>
          <p:nvPr/>
        </p:nvCxnSpPr>
        <p:spPr>
          <a:xfrm>
            <a:off x="6111900" y="2857500"/>
            <a:ext cx="31242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A27F12F-7360-1883-A7B0-6DE6D8171EFB}"/>
              </a:ext>
            </a:extLst>
          </p:cNvPr>
          <p:cNvCxnSpPr>
            <a:cxnSpLocks/>
          </p:cNvCxnSpPr>
          <p:nvPr/>
        </p:nvCxnSpPr>
        <p:spPr>
          <a:xfrm>
            <a:off x="11544300" y="2857500"/>
            <a:ext cx="5257800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41">
            <a:extLst>
              <a:ext uri="{FF2B5EF4-FFF2-40B4-BE49-F238E27FC236}">
                <a16:creationId xmlns:a16="http://schemas.microsoft.com/office/drawing/2014/main" id="{7761B7E0-5839-A06E-1801-79E242FBBA9E}"/>
              </a:ext>
            </a:extLst>
          </p:cNvPr>
          <p:cNvSpPr txBox="1"/>
          <p:nvPr/>
        </p:nvSpPr>
        <p:spPr>
          <a:xfrm>
            <a:off x="917600" y="1937897"/>
            <a:ext cx="3454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1179"/>
              </a:lnSpc>
            </a:pPr>
            <a:r>
              <a:rPr lang="ko-KR" altLang="en-US" sz="3000" b="0" i="0" u="none" strike="noStrike" dirty="0">
                <a:solidFill>
                  <a:srgbClr val="F28830"/>
                </a:solidFill>
                <a:ea typeface="Pretendard Bold"/>
              </a:rPr>
              <a:t>모델</a:t>
            </a:r>
            <a:endParaRPr lang="ko-KR" sz="3000" b="0" i="0" u="none" strike="noStrike" dirty="0">
              <a:solidFill>
                <a:srgbClr val="F28830"/>
              </a:solidFill>
              <a:ea typeface="Pretendard Bold"/>
            </a:endParaRPr>
          </a:p>
        </p:txBody>
      </p:sp>
      <p:sp>
        <p:nvSpPr>
          <p:cNvPr id="16" name="TextBox 41">
            <a:extLst>
              <a:ext uri="{FF2B5EF4-FFF2-40B4-BE49-F238E27FC236}">
                <a16:creationId xmlns:a16="http://schemas.microsoft.com/office/drawing/2014/main" id="{419A15E8-EBB5-AA3D-523A-BD3944BDA01D}"/>
              </a:ext>
            </a:extLst>
          </p:cNvPr>
          <p:cNvSpPr txBox="1"/>
          <p:nvPr/>
        </p:nvSpPr>
        <p:spPr>
          <a:xfrm>
            <a:off x="5946800" y="1937897"/>
            <a:ext cx="3454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1179"/>
              </a:lnSpc>
            </a:pPr>
            <a:r>
              <a:rPr lang="ko-KR" altLang="en-US" sz="3000" dirty="0">
                <a:solidFill>
                  <a:srgbClr val="F28830"/>
                </a:solidFill>
                <a:ea typeface="Pretendard Bold"/>
              </a:rPr>
              <a:t>서버</a:t>
            </a:r>
            <a:endParaRPr lang="ko-KR" sz="3000" b="0" i="0" u="none" strike="noStrike" dirty="0">
              <a:solidFill>
                <a:srgbClr val="F28830"/>
              </a:solidFill>
              <a:ea typeface="Pretendard Bold"/>
            </a:endParaRPr>
          </a:p>
        </p:txBody>
      </p:sp>
      <p:sp>
        <p:nvSpPr>
          <p:cNvPr id="17" name="TextBox 41">
            <a:extLst>
              <a:ext uri="{FF2B5EF4-FFF2-40B4-BE49-F238E27FC236}">
                <a16:creationId xmlns:a16="http://schemas.microsoft.com/office/drawing/2014/main" id="{BA5B11CC-25F4-439F-60BE-0F072BA5B06B}"/>
              </a:ext>
            </a:extLst>
          </p:cNvPr>
          <p:cNvSpPr txBox="1"/>
          <p:nvPr/>
        </p:nvSpPr>
        <p:spPr>
          <a:xfrm>
            <a:off x="12446000" y="1937897"/>
            <a:ext cx="3454400" cy="6604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121179"/>
              </a:lnSpc>
            </a:pPr>
            <a:r>
              <a:rPr lang="ko-KR" altLang="en-US" sz="3000" dirty="0">
                <a:solidFill>
                  <a:srgbClr val="F28830"/>
                </a:solidFill>
                <a:ea typeface="Pretendard Bold"/>
              </a:rPr>
              <a:t>클라이언트</a:t>
            </a:r>
            <a:endParaRPr lang="ko-KR" sz="3000" b="0" i="0" u="none" strike="noStrike" dirty="0">
              <a:solidFill>
                <a:srgbClr val="F28830"/>
              </a:solidFill>
              <a:ea typeface="Pretendard Bold"/>
            </a:endParaRPr>
          </a:p>
        </p:txBody>
      </p:sp>
      <p:pic>
        <p:nvPicPr>
          <p:cNvPr id="19" name="그래픽 18" descr="작도 단색으로 채워진">
            <a:extLst>
              <a:ext uri="{FF2B5EF4-FFF2-40B4-BE49-F238E27FC236}">
                <a16:creationId xmlns:a16="http://schemas.microsoft.com/office/drawing/2014/main" id="{BDF3794D-2C79-3886-0D33-BA1B22271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2100" y="3448075"/>
            <a:ext cx="2765400" cy="2765400"/>
          </a:xfrm>
          <a:prstGeom prst="rect">
            <a:avLst/>
          </a:prstGeom>
        </p:spPr>
      </p:pic>
      <p:pic>
        <p:nvPicPr>
          <p:cNvPr id="21" name="그래픽 20" descr="서버 단색으로 채워진">
            <a:extLst>
              <a:ext uri="{FF2B5EF4-FFF2-40B4-BE49-F238E27FC236}">
                <a16:creationId xmlns:a16="http://schemas.microsoft.com/office/drawing/2014/main" id="{F3C5B074-6CCD-0FED-CFC6-AAFED742C9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5900" y="3448075"/>
            <a:ext cx="2816200" cy="2816200"/>
          </a:xfrm>
          <a:prstGeom prst="rect">
            <a:avLst/>
          </a:prstGeom>
        </p:spPr>
      </p:pic>
      <p:pic>
        <p:nvPicPr>
          <p:cNvPr id="23" name="그래픽 22" descr="웹 디자인 단색으로 채워진">
            <a:extLst>
              <a:ext uri="{FF2B5EF4-FFF2-40B4-BE49-F238E27FC236}">
                <a16:creationId xmlns:a16="http://schemas.microsoft.com/office/drawing/2014/main" id="{77B82D50-3925-DA20-71B6-AD19C32362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336475" y="2994050"/>
            <a:ext cx="3673450" cy="367345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BA7E7DB-53BB-39E1-A416-C7B78312876F}"/>
              </a:ext>
            </a:extLst>
          </p:cNvPr>
          <p:cNvSpPr/>
          <p:nvPr/>
        </p:nvSpPr>
        <p:spPr>
          <a:xfrm>
            <a:off x="464363" y="7391166"/>
            <a:ext cx="9144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학번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F02584F-04C8-CC68-A9C9-41B3D228946D}"/>
              </a:ext>
            </a:extLst>
          </p:cNvPr>
          <p:cNvSpPr/>
          <p:nvPr/>
        </p:nvSpPr>
        <p:spPr>
          <a:xfrm>
            <a:off x="1555038" y="7391165"/>
            <a:ext cx="32702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2021182044</a:t>
            </a:r>
            <a:endParaRPr lang="ko-KR" altLang="en-US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8A9F1B54-38D1-ABAC-27CE-73A45CA0A8C6}"/>
              </a:ext>
            </a:extLst>
          </p:cNvPr>
          <p:cNvSpPr/>
          <p:nvPr/>
        </p:nvSpPr>
        <p:spPr>
          <a:xfrm>
            <a:off x="464363" y="8193553"/>
            <a:ext cx="9144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046277E7-2A67-D044-ED5D-3B0955854AB7}"/>
              </a:ext>
            </a:extLst>
          </p:cNvPr>
          <p:cNvSpPr/>
          <p:nvPr/>
        </p:nvSpPr>
        <p:spPr>
          <a:xfrm>
            <a:off x="1555038" y="8193552"/>
            <a:ext cx="32702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황인성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A158C8D-36C2-FCED-0386-A17D4EC98D4E}"/>
              </a:ext>
            </a:extLst>
          </p:cNvPr>
          <p:cNvSpPr/>
          <p:nvPr/>
        </p:nvSpPr>
        <p:spPr>
          <a:xfrm>
            <a:off x="5493588" y="7391166"/>
            <a:ext cx="9144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학번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BA5189C-B943-018F-1BFD-43BBEE30C678}"/>
              </a:ext>
            </a:extLst>
          </p:cNvPr>
          <p:cNvSpPr/>
          <p:nvPr/>
        </p:nvSpPr>
        <p:spPr>
          <a:xfrm>
            <a:off x="6584263" y="7391165"/>
            <a:ext cx="32702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2021180033</a:t>
            </a:r>
            <a:endParaRPr lang="ko-KR" altLang="en-US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86FD6674-E50F-B6C9-4F48-1AF144E34143}"/>
              </a:ext>
            </a:extLst>
          </p:cNvPr>
          <p:cNvSpPr/>
          <p:nvPr/>
        </p:nvSpPr>
        <p:spPr>
          <a:xfrm>
            <a:off x="5493588" y="8193553"/>
            <a:ext cx="9144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이름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996451BE-4BBC-49D8-BE4B-118A5C0A9AD7}"/>
              </a:ext>
            </a:extLst>
          </p:cNvPr>
          <p:cNvSpPr/>
          <p:nvPr/>
        </p:nvSpPr>
        <p:spPr>
          <a:xfrm>
            <a:off x="6584263" y="8193552"/>
            <a:ext cx="32702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이태현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E051D48-97DF-C4BB-C65C-3DE96E318C13}"/>
              </a:ext>
            </a:extLst>
          </p:cNvPr>
          <p:cNvSpPr/>
          <p:nvPr/>
        </p:nvSpPr>
        <p:spPr>
          <a:xfrm>
            <a:off x="10567925" y="7391166"/>
            <a:ext cx="9144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학번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C98D15DE-30CD-52DE-282F-E4E4617343E3}"/>
              </a:ext>
            </a:extLst>
          </p:cNvPr>
          <p:cNvSpPr/>
          <p:nvPr/>
        </p:nvSpPr>
        <p:spPr>
          <a:xfrm>
            <a:off x="11658600" y="7391165"/>
            <a:ext cx="29718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2021180037</a:t>
            </a:r>
            <a:endParaRPr lang="ko-KR" altLang="en-US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5A385BD-47AD-0877-7881-6E2FA1136A58}"/>
              </a:ext>
            </a:extLst>
          </p:cNvPr>
          <p:cNvSpPr/>
          <p:nvPr/>
        </p:nvSpPr>
        <p:spPr>
          <a:xfrm>
            <a:off x="10567925" y="8193553"/>
            <a:ext cx="9144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이름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7C0AADFC-FACA-EF52-2441-156EF6DB221E}"/>
              </a:ext>
            </a:extLst>
          </p:cNvPr>
          <p:cNvSpPr/>
          <p:nvPr/>
        </p:nvSpPr>
        <p:spPr>
          <a:xfrm>
            <a:off x="11658600" y="8193552"/>
            <a:ext cx="29718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정동호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C7C5C6A3-B1B7-A7F1-C11F-DDFC8963D891}"/>
              </a:ext>
            </a:extLst>
          </p:cNvPr>
          <p:cNvSpPr/>
          <p:nvPr/>
        </p:nvSpPr>
        <p:spPr>
          <a:xfrm>
            <a:off x="14782800" y="7391165"/>
            <a:ext cx="29718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2021184002</a:t>
            </a:r>
            <a:endParaRPr lang="ko-KR" altLang="en-US" sz="20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1EEF0AF-8310-BC6C-DC4E-2103F1553DD5}"/>
              </a:ext>
            </a:extLst>
          </p:cNvPr>
          <p:cNvSpPr/>
          <p:nvPr/>
        </p:nvSpPr>
        <p:spPr>
          <a:xfrm>
            <a:off x="14782800" y="8193552"/>
            <a:ext cx="2971800" cy="6075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길준형</a:t>
            </a:r>
          </a:p>
        </p:txBody>
      </p:sp>
    </p:spTree>
    <p:extLst>
      <p:ext uri="{BB962C8B-B14F-4D97-AF65-F5344CB8AC3E}">
        <p14:creationId xmlns:p14="http://schemas.microsoft.com/office/powerpoint/2010/main" val="3892702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C388A-E861-24FD-5F7E-BCC71CD73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75F1B724-5332-E82B-1DF8-7E508A9C92DD}"/>
              </a:ext>
            </a:extLst>
          </p:cNvPr>
          <p:cNvSpPr txBox="1"/>
          <p:nvPr/>
        </p:nvSpPr>
        <p:spPr>
          <a:xfrm>
            <a:off x="7861300" y="266700"/>
            <a:ext cx="25654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개요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ED356C1-3DFC-4A6E-C9EE-D32A659FBCFE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73F2E6BF-3AEA-470F-4E52-B4566374492B}"/>
              </a:ext>
            </a:extLst>
          </p:cNvPr>
          <p:cNvSpPr/>
          <p:nvPr/>
        </p:nvSpPr>
        <p:spPr>
          <a:xfrm>
            <a:off x="2628900" y="6743700"/>
            <a:ext cx="13030200" cy="2133599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트럼프 </a:t>
            </a:r>
            <a:r>
              <a:rPr lang="ko-KR" altLang="en-US" sz="2800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카드</a:t>
            </a:r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를 스킬로 활용하는 </a:t>
            </a:r>
            <a:r>
              <a:rPr lang="en-US" altLang="ko-KR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3</a:t>
            </a:r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인칭 </a:t>
            </a:r>
            <a:r>
              <a:rPr lang="ko-KR" altLang="en-US" sz="2800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카툰</a:t>
            </a:r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 그래픽 </a:t>
            </a:r>
            <a:r>
              <a:rPr lang="ko-KR" altLang="en-US" sz="2800" dirty="0" err="1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로그라이크</a:t>
            </a:r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 게임</a:t>
            </a:r>
          </a:p>
        </p:txBody>
      </p:sp>
      <p:pic>
        <p:nvPicPr>
          <p:cNvPr id="18" name="그래픽 17" descr="클로버 단색으로 채워진">
            <a:extLst>
              <a:ext uri="{FF2B5EF4-FFF2-40B4-BE49-F238E27FC236}">
                <a16:creationId xmlns:a16="http://schemas.microsoft.com/office/drawing/2014/main" id="{45FA93CF-A62B-5EB5-E6C7-EA9B3F714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487400" y="3368682"/>
            <a:ext cx="1440000" cy="1440000"/>
          </a:xfrm>
          <a:prstGeom prst="rect">
            <a:avLst/>
          </a:prstGeom>
        </p:spPr>
      </p:pic>
      <p:pic>
        <p:nvPicPr>
          <p:cNvPr id="22" name="그래픽 21" descr="다이아몬드 단색으로 채워진">
            <a:extLst>
              <a:ext uri="{FF2B5EF4-FFF2-40B4-BE49-F238E27FC236}">
                <a16:creationId xmlns:a16="http://schemas.microsoft.com/office/drawing/2014/main" id="{53A9B947-22C0-A9A7-5A8E-390537134D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57600" y="3434491"/>
            <a:ext cx="1440000" cy="1440000"/>
          </a:xfrm>
          <a:prstGeom prst="rect">
            <a:avLst/>
          </a:prstGeom>
        </p:spPr>
      </p:pic>
      <p:pic>
        <p:nvPicPr>
          <p:cNvPr id="29" name="그래픽 28" descr="스페이드 세트 단색으로 채워진">
            <a:extLst>
              <a:ext uri="{FF2B5EF4-FFF2-40B4-BE49-F238E27FC236}">
                <a16:creationId xmlns:a16="http://schemas.microsoft.com/office/drawing/2014/main" id="{AB4F0927-D062-0021-B412-D11D3ADB54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10800" y="3368682"/>
            <a:ext cx="1440000" cy="1440000"/>
          </a:xfrm>
          <a:prstGeom prst="rect">
            <a:avLst/>
          </a:prstGeom>
        </p:spPr>
      </p:pic>
      <p:pic>
        <p:nvPicPr>
          <p:cNvPr id="41" name="그래픽 40" descr="빛나는 하트 단색으로 채워진">
            <a:extLst>
              <a:ext uri="{FF2B5EF4-FFF2-40B4-BE49-F238E27FC236}">
                <a16:creationId xmlns:a16="http://schemas.microsoft.com/office/drawing/2014/main" id="{9AB251DB-3C4E-36C8-41D9-8CC809DAAA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34200" y="3403318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3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8C839-12E5-8961-C075-E1CBBC0C9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4CD5C06D-F2C4-8D8A-C5BA-F5B43FFB4D2F}"/>
              </a:ext>
            </a:extLst>
          </p:cNvPr>
          <p:cNvSpPr txBox="1"/>
          <p:nvPr/>
        </p:nvSpPr>
        <p:spPr>
          <a:xfrm>
            <a:off x="7861300" y="266700"/>
            <a:ext cx="25654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개요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CBDC37A-1ACF-876F-A52E-2DD8760E34D7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55555576-883B-44C3-7091-C192D40149E3}"/>
              </a:ext>
            </a:extLst>
          </p:cNvPr>
          <p:cNvSpPr/>
          <p:nvPr/>
        </p:nvSpPr>
        <p:spPr>
          <a:xfrm>
            <a:off x="9372600" y="2476500"/>
            <a:ext cx="7048500" cy="64770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스킬의 효과와 데미지는 </a:t>
            </a:r>
            <a:endParaRPr lang="en-US" altLang="ko-KR" sz="2800" b="1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algn="ctr"/>
            <a:r>
              <a:rPr lang="ko-KR" altLang="en-US" sz="2800" b="1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트럼프의 규칙</a:t>
            </a:r>
            <a:r>
              <a:rPr lang="ko-KR" altLang="en-US" sz="28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을 따라간다</a:t>
            </a:r>
            <a:endParaRPr lang="ko-KR" altLang="en-US" sz="2800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BBE460B-0A93-EBF5-8653-276B798DE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562100"/>
            <a:ext cx="6019800" cy="849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53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6E0D0-7248-4502-8052-3B8B77400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BC84D025-8D18-A653-6386-2BB4A14BE524}"/>
              </a:ext>
            </a:extLst>
          </p:cNvPr>
          <p:cNvSpPr txBox="1"/>
          <p:nvPr/>
        </p:nvSpPr>
        <p:spPr>
          <a:xfrm>
            <a:off x="7861300" y="266700"/>
            <a:ext cx="25654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개요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150AB4C-6BAA-B026-D4C4-316122F1A960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98B6BB8A-686F-3930-C10B-433D6D06C830}"/>
              </a:ext>
            </a:extLst>
          </p:cNvPr>
          <p:cNvSpPr/>
          <p:nvPr/>
        </p:nvSpPr>
        <p:spPr>
          <a:xfrm>
            <a:off x="9372600" y="2476500"/>
            <a:ext cx="7048500" cy="29718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각 문양마다 </a:t>
            </a:r>
            <a:r>
              <a:rPr lang="ko-KR" altLang="en-US" sz="2800" b="1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속성 데미지</a:t>
            </a:r>
            <a:r>
              <a:rPr lang="ko-KR" altLang="en-US" sz="28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가 있으며</a:t>
            </a:r>
            <a:r>
              <a:rPr lang="en-US" altLang="ko-KR" sz="28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,</a:t>
            </a:r>
          </a:p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유리하거나 불리한 속성이 존재한다</a:t>
            </a:r>
            <a:endParaRPr lang="ko-KR" altLang="en-US" sz="2800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3" name="그래픽 2" descr="클로버 단색으로 채워진">
            <a:extLst>
              <a:ext uri="{FF2B5EF4-FFF2-40B4-BE49-F238E27FC236}">
                <a16:creationId xmlns:a16="http://schemas.microsoft.com/office/drawing/2014/main" id="{753F4CA3-2A81-D049-A798-3522D9E53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9694" y="6819900"/>
            <a:ext cx="1440000" cy="1440000"/>
          </a:xfrm>
          <a:prstGeom prst="rect">
            <a:avLst/>
          </a:prstGeom>
        </p:spPr>
      </p:pic>
      <p:pic>
        <p:nvPicPr>
          <p:cNvPr id="7" name="그래픽 6" descr="다이아몬드 단색으로 채워진">
            <a:extLst>
              <a:ext uri="{FF2B5EF4-FFF2-40B4-BE49-F238E27FC236}">
                <a16:creationId xmlns:a16="http://schemas.microsoft.com/office/drawing/2014/main" id="{0943FC78-E486-EF32-FB94-7E58E61932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47179" y="4728300"/>
            <a:ext cx="1440000" cy="1440000"/>
          </a:xfrm>
          <a:prstGeom prst="rect">
            <a:avLst/>
          </a:prstGeom>
        </p:spPr>
      </p:pic>
      <p:pic>
        <p:nvPicPr>
          <p:cNvPr id="8" name="그래픽 7" descr="스페이드 세트 단색으로 채워진">
            <a:extLst>
              <a:ext uri="{FF2B5EF4-FFF2-40B4-BE49-F238E27FC236}">
                <a16:creationId xmlns:a16="http://schemas.microsoft.com/office/drawing/2014/main" id="{1D05816C-7EFD-C0DB-5139-ABC23C807D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0100" y="2400300"/>
            <a:ext cx="1440000" cy="1440000"/>
          </a:xfrm>
          <a:prstGeom prst="rect">
            <a:avLst/>
          </a:prstGeom>
        </p:spPr>
      </p:pic>
      <p:pic>
        <p:nvPicPr>
          <p:cNvPr id="9" name="그래픽 8" descr="빛나는 하트 단색으로 채워진">
            <a:extLst>
              <a:ext uri="{FF2B5EF4-FFF2-40B4-BE49-F238E27FC236}">
                <a16:creationId xmlns:a16="http://schemas.microsoft.com/office/drawing/2014/main" id="{B8575456-95B5-B2B9-9BF3-AE4D67FB6A2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2194" y="4816801"/>
            <a:ext cx="1440000" cy="1440000"/>
          </a:xfrm>
          <a:prstGeom prst="rect">
            <a:avLst/>
          </a:prstGeom>
        </p:spPr>
      </p:pic>
      <p:sp>
        <p:nvSpPr>
          <p:cNvPr id="12" name="화살표: 갈매기형 수장 11">
            <a:extLst>
              <a:ext uri="{FF2B5EF4-FFF2-40B4-BE49-F238E27FC236}">
                <a16:creationId xmlns:a16="http://schemas.microsoft.com/office/drawing/2014/main" id="{5DA227E7-7700-E44A-365F-4B1C8D8C166A}"/>
              </a:ext>
            </a:extLst>
          </p:cNvPr>
          <p:cNvSpPr/>
          <p:nvPr/>
        </p:nvSpPr>
        <p:spPr>
          <a:xfrm rot="18860736">
            <a:off x="2824595" y="3506387"/>
            <a:ext cx="876300" cy="1143000"/>
          </a:xfrm>
          <a:prstGeom prst="chevron">
            <a:avLst>
              <a:gd name="adj" fmla="val 70932"/>
            </a:avLst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화살표: 갈매기형 수장 16">
            <a:extLst>
              <a:ext uri="{FF2B5EF4-FFF2-40B4-BE49-F238E27FC236}">
                <a16:creationId xmlns:a16="http://schemas.microsoft.com/office/drawing/2014/main" id="{5BC5A337-A281-F6D5-574D-C40541298B7C}"/>
              </a:ext>
            </a:extLst>
          </p:cNvPr>
          <p:cNvSpPr/>
          <p:nvPr/>
        </p:nvSpPr>
        <p:spPr>
          <a:xfrm rot="12917952">
            <a:off x="2863710" y="6108622"/>
            <a:ext cx="876300" cy="1143000"/>
          </a:xfrm>
          <a:prstGeom prst="chevron">
            <a:avLst>
              <a:gd name="adj" fmla="val 70932"/>
            </a:avLst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화살표: 갈매기형 수장 17">
            <a:extLst>
              <a:ext uri="{FF2B5EF4-FFF2-40B4-BE49-F238E27FC236}">
                <a16:creationId xmlns:a16="http://schemas.microsoft.com/office/drawing/2014/main" id="{C4C3C061-61CA-7EC0-C1CA-A3346DD4E40E}"/>
              </a:ext>
            </a:extLst>
          </p:cNvPr>
          <p:cNvSpPr/>
          <p:nvPr/>
        </p:nvSpPr>
        <p:spPr>
          <a:xfrm rot="7978825">
            <a:off x="5688859" y="6154602"/>
            <a:ext cx="876300" cy="1143000"/>
          </a:xfrm>
          <a:prstGeom prst="chevron">
            <a:avLst>
              <a:gd name="adj" fmla="val 70932"/>
            </a:avLst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화살표: 갈매기형 수장 18">
            <a:extLst>
              <a:ext uri="{FF2B5EF4-FFF2-40B4-BE49-F238E27FC236}">
                <a16:creationId xmlns:a16="http://schemas.microsoft.com/office/drawing/2014/main" id="{0920277D-EDA3-576F-4CAB-40B2ECC93E61}"/>
              </a:ext>
            </a:extLst>
          </p:cNvPr>
          <p:cNvSpPr/>
          <p:nvPr/>
        </p:nvSpPr>
        <p:spPr>
          <a:xfrm rot="2352638">
            <a:off x="5841260" y="3506387"/>
            <a:ext cx="876300" cy="1143000"/>
          </a:xfrm>
          <a:prstGeom prst="chevron">
            <a:avLst>
              <a:gd name="adj" fmla="val 70932"/>
            </a:avLst>
          </a:prstGeom>
          <a:noFill/>
          <a:ln w="571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20F4598-0228-51B4-574E-696407B3B72F}"/>
              </a:ext>
            </a:extLst>
          </p:cNvPr>
          <p:cNvSpPr/>
          <p:nvPr/>
        </p:nvSpPr>
        <p:spPr>
          <a:xfrm>
            <a:off x="9372600" y="5829300"/>
            <a:ext cx="7048500" cy="29718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강한 속성의 경우 </a:t>
            </a:r>
            <a:r>
              <a:rPr lang="en-US" altLang="ko-KR" sz="2800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20% </a:t>
            </a:r>
            <a:r>
              <a:rPr lang="ko-KR" altLang="en-US" sz="2800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추가된 데미지</a:t>
            </a:r>
            <a:endParaRPr lang="en-US" altLang="ko-KR" sz="2800" dirty="0">
              <a:solidFill>
                <a:schemeClr val="accent6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약한 속성의 경우 </a:t>
            </a:r>
            <a:r>
              <a:rPr lang="en-US" altLang="ko-KR" sz="2800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20% </a:t>
            </a:r>
            <a:r>
              <a:rPr lang="ko-KR" altLang="en-US" sz="2800" dirty="0">
                <a:solidFill>
                  <a:schemeClr val="accent6"/>
                </a:solidFill>
                <a:latin typeface="Pretendard Bold" panose="020B0600000101010101" charset="-127"/>
                <a:ea typeface="Pretendard Bold" panose="020B0600000101010101" charset="-127"/>
              </a:rPr>
              <a:t>감소된 데미지</a:t>
            </a:r>
          </a:p>
        </p:txBody>
      </p:sp>
    </p:spTree>
    <p:extLst>
      <p:ext uri="{BB962C8B-B14F-4D97-AF65-F5344CB8AC3E}">
        <p14:creationId xmlns:p14="http://schemas.microsoft.com/office/powerpoint/2010/main" val="414548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D3693-B94E-ED7F-42A1-1B116F38D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3FF1CC7F-5581-DFA2-0453-7C6C75AB785C}"/>
              </a:ext>
            </a:extLst>
          </p:cNvPr>
          <p:cNvSpPr txBox="1"/>
          <p:nvPr/>
        </p:nvSpPr>
        <p:spPr>
          <a:xfrm>
            <a:off x="7626350" y="266700"/>
            <a:ext cx="30353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440FC9-7651-DD5A-1040-6DE9046D1A38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8590C04-B5A0-4537-E431-3EF13599E39C}"/>
              </a:ext>
            </a:extLst>
          </p:cNvPr>
          <p:cNvSpPr/>
          <p:nvPr/>
        </p:nvSpPr>
        <p:spPr>
          <a:xfrm>
            <a:off x="25426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719FD33-FC34-5A53-2BC2-98E3BA2EFF3D}"/>
              </a:ext>
            </a:extLst>
          </p:cNvPr>
          <p:cNvSpPr/>
          <p:nvPr/>
        </p:nvSpPr>
        <p:spPr>
          <a:xfrm>
            <a:off x="45238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2814603-D85A-9623-4392-111190305A27}"/>
              </a:ext>
            </a:extLst>
          </p:cNvPr>
          <p:cNvSpPr/>
          <p:nvPr/>
        </p:nvSpPr>
        <p:spPr>
          <a:xfrm>
            <a:off x="64918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BB94B30-C5CF-AF68-2F31-AC031FA6C960}"/>
              </a:ext>
            </a:extLst>
          </p:cNvPr>
          <p:cNvSpPr/>
          <p:nvPr/>
        </p:nvSpPr>
        <p:spPr>
          <a:xfrm>
            <a:off x="84730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EC39181-EF27-C9EA-1B0D-0045BA74ACA0}"/>
              </a:ext>
            </a:extLst>
          </p:cNvPr>
          <p:cNvSpPr/>
          <p:nvPr/>
        </p:nvSpPr>
        <p:spPr>
          <a:xfrm>
            <a:off x="104542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래픽 12" descr="클로버 단색으로 채워진">
            <a:extLst>
              <a:ext uri="{FF2B5EF4-FFF2-40B4-BE49-F238E27FC236}">
                <a16:creationId xmlns:a16="http://schemas.microsoft.com/office/drawing/2014/main" id="{9F086A8B-E867-2F6E-7EED-7F4F84E2B8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7637" y="3581727"/>
            <a:ext cx="1080000" cy="1080000"/>
          </a:xfrm>
          <a:prstGeom prst="rect">
            <a:avLst/>
          </a:prstGeom>
        </p:spPr>
      </p:pic>
      <p:pic>
        <p:nvPicPr>
          <p:cNvPr id="14" name="그래픽 13" descr="다이아몬드 단색으로 채워진">
            <a:extLst>
              <a:ext uri="{FF2B5EF4-FFF2-40B4-BE49-F238E27FC236}">
                <a16:creationId xmlns:a16="http://schemas.microsoft.com/office/drawing/2014/main" id="{A98B48AC-240D-E145-846F-BF5D18A583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40037" y="3581727"/>
            <a:ext cx="1080000" cy="1080000"/>
          </a:xfrm>
          <a:prstGeom prst="rect">
            <a:avLst/>
          </a:prstGeom>
        </p:spPr>
      </p:pic>
      <p:pic>
        <p:nvPicPr>
          <p:cNvPr id="15" name="그래픽 14" descr="스페이드 세트 단색으로 채워진">
            <a:extLst>
              <a:ext uri="{FF2B5EF4-FFF2-40B4-BE49-F238E27FC236}">
                <a16:creationId xmlns:a16="http://schemas.microsoft.com/office/drawing/2014/main" id="{5E02F315-0B13-A8D9-0B53-42771C7F5F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5237" y="3581727"/>
            <a:ext cx="1080000" cy="1080000"/>
          </a:xfrm>
          <a:prstGeom prst="rect">
            <a:avLst/>
          </a:prstGeom>
        </p:spPr>
      </p:pic>
      <p:pic>
        <p:nvPicPr>
          <p:cNvPr id="17" name="그래픽 16" descr="스페이드 세트 단색으로 채워진">
            <a:extLst>
              <a:ext uri="{FF2B5EF4-FFF2-40B4-BE49-F238E27FC236}">
                <a16:creationId xmlns:a16="http://schemas.microsoft.com/office/drawing/2014/main" id="{6D0AD43A-5C6F-D9FA-97B5-AAD42FAAA1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6437" y="3581727"/>
            <a:ext cx="1080000" cy="1080000"/>
          </a:xfrm>
          <a:prstGeom prst="rect">
            <a:avLst/>
          </a:prstGeom>
        </p:spPr>
      </p:pic>
      <p:pic>
        <p:nvPicPr>
          <p:cNvPr id="19" name="그래픽 18" descr="스페이드 세트 단색으로 채워진">
            <a:extLst>
              <a:ext uri="{FF2B5EF4-FFF2-40B4-BE49-F238E27FC236}">
                <a16:creationId xmlns:a16="http://schemas.microsoft.com/office/drawing/2014/main" id="{C940292A-70E4-FF47-5118-C0E03DAFFEF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8837" y="3581727"/>
            <a:ext cx="1080000" cy="108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20D1F9F-D7E7-AE25-6F54-82E98B073B5D}"/>
              </a:ext>
            </a:extLst>
          </p:cNvPr>
          <p:cNvSpPr txBox="1"/>
          <p:nvPr/>
        </p:nvSpPr>
        <p:spPr>
          <a:xfrm>
            <a:off x="2679145" y="3683540"/>
            <a:ext cx="57900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7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EE73CF-A2F5-8BDB-8558-0FD86DDCBC39}"/>
              </a:ext>
            </a:extLst>
          </p:cNvPr>
          <p:cNvSpPr txBox="1"/>
          <p:nvPr/>
        </p:nvSpPr>
        <p:spPr>
          <a:xfrm>
            <a:off x="4676237" y="36835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B4D374-7D21-D3F0-2165-5A9203ACD1C6}"/>
              </a:ext>
            </a:extLst>
          </p:cNvPr>
          <p:cNvSpPr txBox="1"/>
          <p:nvPr/>
        </p:nvSpPr>
        <p:spPr>
          <a:xfrm>
            <a:off x="6644237" y="3683540"/>
            <a:ext cx="65594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A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E4BFFD5-3400-9CEA-8753-4724AE9DD59F}"/>
              </a:ext>
            </a:extLst>
          </p:cNvPr>
          <p:cNvSpPr txBox="1"/>
          <p:nvPr/>
        </p:nvSpPr>
        <p:spPr>
          <a:xfrm>
            <a:off x="8625437" y="36835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9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12E992-2709-675D-8102-5DE8901BE15A}"/>
              </a:ext>
            </a:extLst>
          </p:cNvPr>
          <p:cNvSpPr txBox="1"/>
          <p:nvPr/>
        </p:nvSpPr>
        <p:spPr>
          <a:xfrm>
            <a:off x="10606637" y="3683540"/>
            <a:ext cx="55496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J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6986AD6-1F98-B543-B08B-76ED03132392}"/>
              </a:ext>
            </a:extLst>
          </p:cNvPr>
          <p:cNvSpPr/>
          <p:nvPr/>
        </p:nvSpPr>
        <p:spPr>
          <a:xfrm>
            <a:off x="1905000" y="6627090"/>
            <a:ext cx="14744700" cy="2987424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플레이어는 총 </a:t>
            </a:r>
            <a:r>
              <a:rPr lang="en-US" altLang="ko-KR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54</a:t>
            </a:r>
            <a:r>
              <a:rPr lang="ko-KR" altLang="en-US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장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의 트럼프 카드를 가지며</a:t>
            </a:r>
            <a:r>
              <a:rPr lang="en-US" altLang="ko-KR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손에 가지고 있는 카드로는 </a:t>
            </a:r>
            <a:r>
              <a:rPr lang="ko-KR" altLang="en-US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최대 </a:t>
            </a:r>
            <a:r>
              <a:rPr lang="en-US" altLang="ko-KR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5</a:t>
            </a:r>
            <a:r>
              <a:rPr lang="ko-KR" altLang="en-US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장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을 가질 수 있다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2A7BDAD-66B9-6AB4-6AF5-FA34260E13E9}"/>
              </a:ext>
            </a:extLst>
          </p:cNvPr>
          <p:cNvSpPr/>
          <p:nvPr/>
        </p:nvSpPr>
        <p:spPr>
          <a:xfrm>
            <a:off x="13820237" y="2705099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7AB3526-15A7-6826-4A5B-DD8B31E36C8F}"/>
              </a:ext>
            </a:extLst>
          </p:cNvPr>
          <p:cNvSpPr/>
          <p:nvPr/>
        </p:nvSpPr>
        <p:spPr>
          <a:xfrm>
            <a:off x="1387989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5DBA1F7-6AD6-251A-CCE2-6C11CC16525F}"/>
              </a:ext>
            </a:extLst>
          </p:cNvPr>
          <p:cNvSpPr/>
          <p:nvPr/>
        </p:nvSpPr>
        <p:spPr>
          <a:xfrm>
            <a:off x="1393955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779FFF57-DB9D-35E1-FA1B-35A5D8D5B7F5}"/>
              </a:ext>
            </a:extLst>
          </p:cNvPr>
          <p:cNvSpPr/>
          <p:nvPr/>
        </p:nvSpPr>
        <p:spPr>
          <a:xfrm>
            <a:off x="13974193" y="2642755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B449421-E02A-D3C6-334E-9F4E75235784}"/>
              </a:ext>
            </a:extLst>
          </p:cNvPr>
          <p:cNvSpPr/>
          <p:nvPr/>
        </p:nvSpPr>
        <p:spPr>
          <a:xfrm>
            <a:off x="13972637" y="2611583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1F0ACD3-23A3-F130-C175-EB7A8016F965}"/>
              </a:ext>
            </a:extLst>
          </p:cNvPr>
          <p:cNvSpPr/>
          <p:nvPr/>
        </p:nvSpPr>
        <p:spPr>
          <a:xfrm>
            <a:off x="14020800" y="2580411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49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3983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8E334C-083D-3A46-BF7C-B40360BB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1C11A2CE-072D-C03B-2184-C77FE5824867}"/>
              </a:ext>
            </a:extLst>
          </p:cNvPr>
          <p:cNvSpPr txBox="1"/>
          <p:nvPr/>
        </p:nvSpPr>
        <p:spPr>
          <a:xfrm>
            <a:off x="7626350" y="266700"/>
            <a:ext cx="303530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1189431-9423-6E8B-5C94-4D8921ED6378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20DF53-3E0A-6697-352E-4402B5E4395B}"/>
              </a:ext>
            </a:extLst>
          </p:cNvPr>
          <p:cNvSpPr/>
          <p:nvPr/>
        </p:nvSpPr>
        <p:spPr>
          <a:xfrm>
            <a:off x="25426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ECC5A64-D00B-2592-0622-05E844700D04}"/>
              </a:ext>
            </a:extLst>
          </p:cNvPr>
          <p:cNvSpPr/>
          <p:nvPr/>
        </p:nvSpPr>
        <p:spPr>
          <a:xfrm>
            <a:off x="45238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44DC432-8666-1891-3A51-4F41CB0C9A53}"/>
              </a:ext>
            </a:extLst>
          </p:cNvPr>
          <p:cNvSpPr/>
          <p:nvPr/>
        </p:nvSpPr>
        <p:spPr>
          <a:xfrm>
            <a:off x="64918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C8FB9D9-05E8-E3D4-B340-1A86E860FC48}"/>
              </a:ext>
            </a:extLst>
          </p:cNvPr>
          <p:cNvSpPr/>
          <p:nvPr/>
        </p:nvSpPr>
        <p:spPr>
          <a:xfrm>
            <a:off x="84730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168382A-11AF-08B6-EAB9-FA820117DAC9}"/>
              </a:ext>
            </a:extLst>
          </p:cNvPr>
          <p:cNvSpPr/>
          <p:nvPr/>
        </p:nvSpPr>
        <p:spPr>
          <a:xfrm>
            <a:off x="10454237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래픽 12" descr="클로버 단색으로 채워진">
            <a:extLst>
              <a:ext uri="{FF2B5EF4-FFF2-40B4-BE49-F238E27FC236}">
                <a16:creationId xmlns:a16="http://schemas.microsoft.com/office/drawing/2014/main" id="{7C623AE8-AD74-C6BC-097A-341D9E1C12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7637" y="3581727"/>
            <a:ext cx="1080000" cy="1080000"/>
          </a:xfrm>
          <a:prstGeom prst="rect">
            <a:avLst/>
          </a:prstGeom>
        </p:spPr>
      </p:pic>
      <p:pic>
        <p:nvPicPr>
          <p:cNvPr id="19" name="그래픽 18" descr="스페이드 세트 단색으로 채워진">
            <a:extLst>
              <a:ext uri="{FF2B5EF4-FFF2-40B4-BE49-F238E27FC236}">
                <a16:creationId xmlns:a16="http://schemas.microsoft.com/office/drawing/2014/main" id="{26B1E055-F265-BE3E-E238-3FDCE9B9E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58837" y="3581727"/>
            <a:ext cx="1080000" cy="108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40373F2-CE4B-9924-03FE-23447401C055}"/>
              </a:ext>
            </a:extLst>
          </p:cNvPr>
          <p:cNvSpPr txBox="1"/>
          <p:nvPr/>
        </p:nvSpPr>
        <p:spPr>
          <a:xfrm>
            <a:off x="2679145" y="3683540"/>
            <a:ext cx="60465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2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C88297-0DD5-0868-670A-035DB67822DB}"/>
              </a:ext>
            </a:extLst>
          </p:cNvPr>
          <p:cNvSpPr txBox="1"/>
          <p:nvPr/>
        </p:nvSpPr>
        <p:spPr>
          <a:xfrm>
            <a:off x="4676237" y="3683540"/>
            <a:ext cx="63350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K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88D39C-1A97-F568-24E1-96A7F92CFF96}"/>
              </a:ext>
            </a:extLst>
          </p:cNvPr>
          <p:cNvSpPr txBox="1"/>
          <p:nvPr/>
        </p:nvSpPr>
        <p:spPr>
          <a:xfrm>
            <a:off x="6644237" y="3683540"/>
            <a:ext cx="61266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5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2BF853-A867-6E4E-4EAC-38CE939E9627}"/>
              </a:ext>
            </a:extLst>
          </p:cNvPr>
          <p:cNvSpPr txBox="1"/>
          <p:nvPr/>
        </p:nvSpPr>
        <p:spPr>
          <a:xfrm>
            <a:off x="8625437" y="3683540"/>
            <a:ext cx="631904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4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6C58DF4-86F9-6841-BD69-133A76409AFF}"/>
              </a:ext>
            </a:extLst>
          </p:cNvPr>
          <p:cNvSpPr/>
          <p:nvPr/>
        </p:nvSpPr>
        <p:spPr>
          <a:xfrm>
            <a:off x="1905000" y="6627090"/>
            <a:ext cx="14744700" cy="2987424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만약 트럼프 카드 더미에 남아있는 카드의 개수가 플레이어가 들 수 있는 카드보다 적더라도</a:t>
            </a:r>
            <a:endParaRPr lang="en-US" altLang="ko-KR" sz="28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카드를 모두 가져온다</a:t>
            </a:r>
            <a:r>
              <a:rPr lang="en-US" altLang="ko-KR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7402F1C-9028-DE64-F97F-1092B88FBC57}"/>
              </a:ext>
            </a:extLst>
          </p:cNvPr>
          <p:cNvSpPr/>
          <p:nvPr/>
        </p:nvSpPr>
        <p:spPr>
          <a:xfrm>
            <a:off x="13764163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0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3" name="그래픽 2" descr="빛나는 하트 단색으로 채워진">
            <a:extLst>
              <a:ext uri="{FF2B5EF4-FFF2-40B4-BE49-F238E27FC236}">
                <a16:creationId xmlns:a16="http://schemas.microsoft.com/office/drawing/2014/main" id="{46836C85-A5A2-8F4C-786A-5A0C7F44EA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91986" y="3578590"/>
            <a:ext cx="1080000" cy="1080000"/>
          </a:xfrm>
          <a:prstGeom prst="rect">
            <a:avLst/>
          </a:prstGeom>
        </p:spPr>
      </p:pic>
      <p:pic>
        <p:nvPicPr>
          <p:cNvPr id="5" name="그래픽 4" descr="클로버 단색으로 채워진">
            <a:extLst>
              <a:ext uri="{FF2B5EF4-FFF2-40B4-BE49-F238E27FC236}">
                <a16:creationId xmlns:a16="http://schemas.microsoft.com/office/drawing/2014/main" id="{63FAAF42-53CA-90A3-DCEC-F3033EA09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0492" y="357859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91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9F47C-8A3B-A4BE-0922-EF9A68FCF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9FC1CE80-E0F1-AC76-647B-66D86318DCE9}"/>
              </a:ext>
            </a:extLst>
          </p:cNvPr>
          <p:cNvSpPr txBox="1"/>
          <p:nvPr/>
        </p:nvSpPr>
        <p:spPr>
          <a:xfrm>
            <a:off x="5375275" y="266700"/>
            <a:ext cx="753745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일반공격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CB39825-37B4-A506-6E10-AF6625BB48D7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CC998E1-6125-E612-B444-4558CFC87E5D}"/>
              </a:ext>
            </a:extLst>
          </p:cNvPr>
          <p:cNvSpPr/>
          <p:nvPr/>
        </p:nvSpPr>
        <p:spPr>
          <a:xfrm>
            <a:off x="2542637" y="32385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CB36822-E321-B6B2-BAD8-7613DACF0954}"/>
              </a:ext>
            </a:extLst>
          </p:cNvPr>
          <p:cNvSpPr/>
          <p:nvPr/>
        </p:nvSpPr>
        <p:spPr>
          <a:xfrm>
            <a:off x="4523837" y="32385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EF8D22C-2908-078B-9418-C7A5246617BC}"/>
              </a:ext>
            </a:extLst>
          </p:cNvPr>
          <p:cNvSpPr/>
          <p:nvPr/>
        </p:nvSpPr>
        <p:spPr>
          <a:xfrm>
            <a:off x="6491837" y="3009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CEBCFF9-242C-C683-C9E3-20620035C6A5}"/>
              </a:ext>
            </a:extLst>
          </p:cNvPr>
          <p:cNvSpPr/>
          <p:nvPr/>
        </p:nvSpPr>
        <p:spPr>
          <a:xfrm>
            <a:off x="8473037" y="32385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40BA118-EA4E-0DDC-2C07-2307E8F2C356}"/>
              </a:ext>
            </a:extLst>
          </p:cNvPr>
          <p:cNvSpPr/>
          <p:nvPr/>
        </p:nvSpPr>
        <p:spPr>
          <a:xfrm>
            <a:off x="10454237" y="32385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래픽 12" descr="클로버 단색으로 채워진">
            <a:extLst>
              <a:ext uri="{FF2B5EF4-FFF2-40B4-BE49-F238E27FC236}">
                <a16:creationId xmlns:a16="http://schemas.microsoft.com/office/drawing/2014/main" id="{22591C54-ACDF-2E6E-A44C-FECCA8187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7637" y="3886527"/>
            <a:ext cx="1080000" cy="1080000"/>
          </a:xfrm>
          <a:prstGeom prst="rect">
            <a:avLst/>
          </a:prstGeom>
        </p:spPr>
      </p:pic>
      <p:pic>
        <p:nvPicPr>
          <p:cNvPr id="14" name="그래픽 13" descr="다이아몬드 단색으로 채워진">
            <a:extLst>
              <a:ext uri="{FF2B5EF4-FFF2-40B4-BE49-F238E27FC236}">
                <a16:creationId xmlns:a16="http://schemas.microsoft.com/office/drawing/2014/main" id="{B5823244-71D5-8018-E962-1D61FBABB5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40037" y="4115127"/>
            <a:ext cx="1080000" cy="1080000"/>
          </a:xfrm>
          <a:prstGeom prst="rect">
            <a:avLst/>
          </a:prstGeom>
        </p:spPr>
      </p:pic>
      <p:pic>
        <p:nvPicPr>
          <p:cNvPr id="15" name="그래픽 14" descr="스페이드 세트 단색으로 채워진">
            <a:extLst>
              <a:ext uri="{FF2B5EF4-FFF2-40B4-BE49-F238E27FC236}">
                <a16:creationId xmlns:a16="http://schemas.microsoft.com/office/drawing/2014/main" id="{4EA04366-A531-75C7-34ED-63E13855E58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15237" y="4115127"/>
            <a:ext cx="1080000" cy="1080000"/>
          </a:xfrm>
          <a:prstGeom prst="rect">
            <a:avLst/>
          </a:prstGeom>
        </p:spPr>
      </p:pic>
      <p:pic>
        <p:nvPicPr>
          <p:cNvPr id="17" name="그래픽 16" descr="스페이드 세트 단색으로 채워진">
            <a:extLst>
              <a:ext uri="{FF2B5EF4-FFF2-40B4-BE49-F238E27FC236}">
                <a16:creationId xmlns:a16="http://schemas.microsoft.com/office/drawing/2014/main" id="{2C57BCE0-EBAC-99E6-7695-B5C9697064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6437" y="4115127"/>
            <a:ext cx="1080000" cy="1080000"/>
          </a:xfrm>
          <a:prstGeom prst="rect">
            <a:avLst/>
          </a:prstGeom>
        </p:spPr>
      </p:pic>
      <p:pic>
        <p:nvPicPr>
          <p:cNvPr id="19" name="그래픽 18" descr="스페이드 세트 단색으로 채워진">
            <a:extLst>
              <a:ext uri="{FF2B5EF4-FFF2-40B4-BE49-F238E27FC236}">
                <a16:creationId xmlns:a16="http://schemas.microsoft.com/office/drawing/2014/main" id="{EB2E02D3-03F9-2470-9E2C-D72E7AF251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158837" y="4115127"/>
            <a:ext cx="1080000" cy="108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4498F69-3834-427A-6A3D-F7A75CC89175}"/>
              </a:ext>
            </a:extLst>
          </p:cNvPr>
          <p:cNvSpPr txBox="1"/>
          <p:nvPr/>
        </p:nvSpPr>
        <p:spPr>
          <a:xfrm>
            <a:off x="2679145" y="4216940"/>
            <a:ext cx="57900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7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AEB986-8FFC-171B-37EC-65AD264E78AC}"/>
              </a:ext>
            </a:extLst>
          </p:cNvPr>
          <p:cNvSpPr txBox="1"/>
          <p:nvPr/>
        </p:nvSpPr>
        <p:spPr>
          <a:xfrm>
            <a:off x="4676237" y="42169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A82CC-4B66-0D5F-8767-D497B803E274}"/>
              </a:ext>
            </a:extLst>
          </p:cNvPr>
          <p:cNvSpPr txBox="1"/>
          <p:nvPr/>
        </p:nvSpPr>
        <p:spPr>
          <a:xfrm>
            <a:off x="6644237" y="3988340"/>
            <a:ext cx="65594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A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38D6E7-B17F-922C-0DCA-50589F1C7EA0}"/>
              </a:ext>
            </a:extLst>
          </p:cNvPr>
          <p:cNvSpPr txBox="1"/>
          <p:nvPr/>
        </p:nvSpPr>
        <p:spPr>
          <a:xfrm>
            <a:off x="8625437" y="42169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9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0D546B-0AD8-2198-8AF2-B504D650B060}"/>
              </a:ext>
            </a:extLst>
          </p:cNvPr>
          <p:cNvSpPr txBox="1"/>
          <p:nvPr/>
        </p:nvSpPr>
        <p:spPr>
          <a:xfrm>
            <a:off x="10606637" y="4216940"/>
            <a:ext cx="55496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J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EEFD1E2-55BD-CD4D-8B0D-CF384A9F525B}"/>
              </a:ext>
            </a:extLst>
          </p:cNvPr>
          <p:cNvSpPr/>
          <p:nvPr/>
        </p:nvSpPr>
        <p:spPr>
          <a:xfrm>
            <a:off x="1905000" y="6627090"/>
            <a:ext cx="14744700" cy="2987424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플레이어는 일반 공격 시</a:t>
            </a:r>
            <a:r>
              <a:rPr lang="en-US" altLang="ko-KR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카드를 탄환처럼 사용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한다</a:t>
            </a:r>
            <a:endParaRPr lang="en-US" altLang="ko-KR" sz="28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이때 사용할 카드는 선택해서 소모할 수 있다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9079411C-A8FB-2929-3826-82619827DABD}"/>
              </a:ext>
            </a:extLst>
          </p:cNvPr>
          <p:cNvSpPr/>
          <p:nvPr/>
        </p:nvSpPr>
        <p:spPr>
          <a:xfrm>
            <a:off x="13820237" y="3238499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936ABDA-9658-E112-DEF6-67BF125F0EAD}"/>
              </a:ext>
            </a:extLst>
          </p:cNvPr>
          <p:cNvSpPr/>
          <p:nvPr/>
        </p:nvSpPr>
        <p:spPr>
          <a:xfrm>
            <a:off x="13879897" y="32073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439AAC-37B8-9EBC-38BE-B3A73B4D41F3}"/>
              </a:ext>
            </a:extLst>
          </p:cNvPr>
          <p:cNvSpPr/>
          <p:nvPr/>
        </p:nvSpPr>
        <p:spPr>
          <a:xfrm>
            <a:off x="13939557" y="32073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1DD70A0C-A4F9-8526-A560-7263D5BE6C8C}"/>
              </a:ext>
            </a:extLst>
          </p:cNvPr>
          <p:cNvSpPr/>
          <p:nvPr/>
        </p:nvSpPr>
        <p:spPr>
          <a:xfrm>
            <a:off x="13974193" y="3176155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7DFBED4A-DC7C-78DF-83FF-DF11F026E584}"/>
              </a:ext>
            </a:extLst>
          </p:cNvPr>
          <p:cNvSpPr/>
          <p:nvPr/>
        </p:nvSpPr>
        <p:spPr>
          <a:xfrm>
            <a:off x="13972637" y="3144983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D6C5CF7-5323-4106-6819-A1E0AD08DB24}"/>
              </a:ext>
            </a:extLst>
          </p:cNvPr>
          <p:cNvSpPr/>
          <p:nvPr/>
        </p:nvSpPr>
        <p:spPr>
          <a:xfrm>
            <a:off x="14020800" y="3113811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49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64F54E9E-3DA9-A0A4-C3F7-A1CEE084497C}"/>
              </a:ext>
            </a:extLst>
          </p:cNvPr>
          <p:cNvSpPr/>
          <p:nvPr/>
        </p:nvSpPr>
        <p:spPr>
          <a:xfrm>
            <a:off x="7125821" y="2172240"/>
            <a:ext cx="484632" cy="624576"/>
          </a:xfrm>
          <a:prstGeom prst="downArrow">
            <a:avLst/>
          </a:prstGeom>
          <a:noFill/>
          <a:ln w="762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1582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EDD3-4D7A-0915-7420-B6C83EA34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78233E6E-2862-5D8E-58D6-427FD3C855B9}"/>
              </a:ext>
            </a:extLst>
          </p:cNvPr>
          <p:cNvSpPr txBox="1"/>
          <p:nvPr/>
        </p:nvSpPr>
        <p:spPr>
          <a:xfrm>
            <a:off x="5375275" y="266700"/>
            <a:ext cx="753745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재장전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FC46C42-B900-9C6E-8322-D35799D424A1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4122B1E-A4F2-C2A3-0A34-B65D9EFCA3C1}"/>
              </a:ext>
            </a:extLst>
          </p:cNvPr>
          <p:cNvSpPr/>
          <p:nvPr/>
        </p:nvSpPr>
        <p:spPr>
          <a:xfrm>
            <a:off x="3048000" y="1485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38EDBA2-5781-6BD1-EAB4-040442274C0C}"/>
              </a:ext>
            </a:extLst>
          </p:cNvPr>
          <p:cNvSpPr/>
          <p:nvPr/>
        </p:nvSpPr>
        <p:spPr>
          <a:xfrm>
            <a:off x="5029200" y="1485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CB52975-081E-417D-48C8-2EC3CAA674A0}"/>
              </a:ext>
            </a:extLst>
          </p:cNvPr>
          <p:cNvSpPr/>
          <p:nvPr/>
        </p:nvSpPr>
        <p:spPr>
          <a:xfrm>
            <a:off x="6997200" y="1485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77E5EAD-FD82-8EDB-E0D4-FA1A53892EB2}"/>
              </a:ext>
            </a:extLst>
          </p:cNvPr>
          <p:cNvSpPr/>
          <p:nvPr/>
        </p:nvSpPr>
        <p:spPr>
          <a:xfrm>
            <a:off x="8978400" y="1485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6EDBE1E2-04FA-D05C-DA93-6C7FEB14F9D1}"/>
              </a:ext>
            </a:extLst>
          </p:cNvPr>
          <p:cNvSpPr/>
          <p:nvPr/>
        </p:nvSpPr>
        <p:spPr>
          <a:xfrm>
            <a:off x="10959600" y="1485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5" name="그래픽 14" descr="스페이드 세트 단색으로 채워진">
            <a:extLst>
              <a:ext uri="{FF2B5EF4-FFF2-40B4-BE49-F238E27FC236}">
                <a16:creationId xmlns:a16="http://schemas.microsoft.com/office/drawing/2014/main" id="{F3CD16A4-1F18-D727-3FFC-FA24C15555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0600" y="2362527"/>
            <a:ext cx="1080000" cy="1080000"/>
          </a:xfrm>
          <a:prstGeom prst="rect">
            <a:avLst/>
          </a:prstGeom>
        </p:spPr>
      </p:pic>
      <p:pic>
        <p:nvPicPr>
          <p:cNvPr id="17" name="그래픽 16" descr="스페이드 세트 단색으로 채워진">
            <a:extLst>
              <a:ext uri="{FF2B5EF4-FFF2-40B4-BE49-F238E27FC236}">
                <a16:creationId xmlns:a16="http://schemas.microsoft.com/office/drawing/2014/main" id="{E103C1A0-F47C-25E0-5127-3C2F092603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1800" y="2362527"/>
            <a:ext cx="1080000" cy="1080000"/>
          </a:xfrm>
          <a:prstGeom prst="rect">
            <a:avLst/>
          </a:prstGeom>
        </p:spPr>
      </p:pic>
      <p:pic>
        <p:nvPicPr>
          <p:cNvPr id="19" name="그래픽 18" descr="스페이드 세트 단색으로 채워진">
            <a:extLst>
              <a:ext uri="{FF2B5EF4-FFF2-40B4-BE49-F238E27FC236}">
                <a16:creationId xmlns:a16="http://schemas.microsoft.com/office/drawing/2014/main" id="{E3F71E83-AB0F-3E7F-4721-78D968A889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4200" y="2362527"/>
            <a:ext cx="1080000" cy="108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3CFF448-E790-7FE5-F6F3-3B448BEC892F}"/>
              </a:ext>
            </a:extLst>
          </p:cNvPr>
          <p:cNvSpPr txBox="1"/>
          <p:nvPr/>
        </p:nvSpPr>
        <p:spPr>
          <a:xfrm>
            <a:off x="3184508" y="2464340"/>
            <a:ext cx="579005" cy="93871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7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59A0DF-04B9-7404-B399-315E06996A46}"/>
              </a:ext>
            </a:extLst>
          </p:cNvPr>
          <p:cNvSpPr txBox="1"/>
          <p:nvPr/>
        </p:nvSpPr>
        <p:spPr>
          <a:xfrm>
            <a:off x="5181600" y="2464340"/>
            <a:ext cx="625492" cy="93871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B65079-2AF3-0960-0971-00850697A4D7}"/>
              </a:ext>
            </a:extLst>
          </p:cNvPr>
          <p:cNvSpPr txBox="1"/>
          <p:nvPr/>
        </p:nvSpPr>
        <p:spPr>
          <a:xfrm>
            <a:off x="9130800" y="24643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9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4E67E60-7614-82B6-8315-0EC4FBEC21FD}"/>
              </a:ext>
            </a:extLst>
          </p:cNvPr>
          <p:cNvSpPr/>
          <p:nvPr/>
        </p:nvSpPr>
        <p:spPr>
          <a:xfrm>
            <a:off x="1905000" y="7734300"/>
            <a:ext cx="14744700" cy="1880213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플레이어는 </a:t>
            </a:r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재장전을 통해 카드를 얻을 수 있다</a:t>
            </a:r>
            <a:endParaRPr lang="en-US" altLang="ko-KR" sz="2800" b="1" dirty="0">
              <a:solidFill>
                <a:schemeClr val="accent6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이때 기존의 카드를 유지한 채</a:t>
            </a:r>
            <a:r>
              <a:rPr lang="en-US" altLang="ko-KR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최대 개수 </a:t>
            </a:r>
            <a:r>
              <a:rPr lang="en-US" altLang="ko-KR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5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개가 되도록 뽑는다</a:t>
            </a:r>
            <a:endParaRPr lang="en-US" altLang="ko-KR" sz="28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7071DB4-C325-201F-70C1-2478FA9500C8}"/>
              </a:ext>
            </a:extLst>
          </p:cNvPr>
          <p:cNvSpPr/>
          <p:nvPr/>
        </p:nvSpPr>
        <p:spPr>
          <a:xfrm>
            <a:off x="14658437" y="33147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F8E2B64-00F4-5200-2C71-CB373840A8F4}"/>
              </a:ext>
            </a:extLst>
          </p:cNvPr>
          <p:cNvSpPr/>
          <p:nvPr/>
        </p:nvSpPr>
        <p:spPr>
          <a:xfrm>
            <a:off x="14718097" y="3283528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BEE82C03-ABAF-DB0F-525C-E2C02524AC14}"/>
              </a:ext>
            </a:extLst>
          </p:cNvPr>
          <p:cNvSpPr/>
          <p:nvPr/>
        </p:nvSpPr>
        <p:spPr>
          <a:xfrm>
            <a:off x="14777757" y="3283528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A2B84EE-5F0A-33E2-9010-D7323819534F}"/>
              </a:ext>
            </a:extLst>
          </p:cNvPr>
          <p:cNvSpPr/>
          <p:nvPr/>
        </p:nvSpPr>
        <p:spPr>
          <a:xfrm>
            <a:off x="14812393" y="3252356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FB81CD9B-F5E7-C491-D4DB-73BA1D74D3B4}"/>
              </a:ext>
            </a:extLst>
          </p:cNvPr>
          <p:cNvSpPr/>
          <p:nvPr/>
        </p:nvSpPr>
        <p:spPr>
          <a:xfrm>
            <a:off x="14810837" y="3221184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E1BEBF3A-F0C9-E2E5-1913-11C9E22F2089}"/>
              </a:ext>
            </a:extLst>
          </p:cNvPr>
          <p:cNvSpPr/>
          <p:nvPr/>
        </p:nvSpPr>
        <p:spPr>
          <a:xfrm>
            <a:off x="14859000" y="3190012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47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B52C4A4-2D96-B094-AAF0-2AB0CFF9137A}"/>
              </a:ext>
            </a:extLst>
          </p:cNvPr>
          <p:cNvSpPr/>
          <p:nvPr/>
        </p:nvSpPr>
        <p:spPr>
          <a:xfrm>
            <a:off x="2362200" y="4533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C36044B-F11A-AD35-5811-C9E4F5FE6D50}"/>
              </a:ext>
            </a:extLst>
          </p:cNvPr>
          <p:cNvSpPr/>
          <p:nvPr/>
        </p:nvSpPr>
        <p:spPr>
          <a:xfrm>
            <a:off x="4343400" y="4533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49A267D-3382-3074-BF0A-8F86017BF800}"/>
              </a:ext>
            </a:extLst>
          </p:cNvPr>
          <p:cNvSpPr/>
          <p:nvPr/>
        </p:nvSpPr>
        <p:spPr>
          <a:xfrm>
            <a:off x="6311400" y="4533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2966457-066F-C620-F027-DFA8DF69E35A}"/>
              </a:ext>
            </a:extLst>
          </p:cNvPr>
          <p:cNvSpPr/>
          <p:nvPr/>
        </p:nvSpPr>
        <p:spPr>
          <a:xfrm>
            <a:off x="8292600" y="4533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4E20D81-1FE1-0084-2E03-C65126202321}"/>
              </a:ext>
            </a:extLst>
          </p:cNvPr>
          <p:cNvSpPr/>
          <p:nvPr/>
        </p:nvSpPr>
        <p:spPr>
          <a:xfrm>
            <a:off x="10273800" y="4533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20" name="그래픽 19" descr="클로버 단색으로 채워진">
            <a:extLst>
              <a:ext uri="{FF2B5EF4-FFF2-40B4-BE49-F238E27FC236}">
                <a16:creationId xmlns:a16="http://schemas.microsoft.com/office/drawing/2014/main" id="{B0FE33DF-3A27-389E-DF4E-563D52F65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97200" y="5377329"/>
            <a:ext cx="1080000" cy="10800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1E4B5CC-17A6-8326-C557-1EE27BE8648F}"/>
              </a:ext>
            </a:extLst>
          </p:cNvPr>
          <p:cNvSpPr txBox="1"/>
          <p:nvPr/>
        </p:nvSpPr>
        <p:spPr>
          <a:xfrm>
            <a:off x="2498708" y="5512340"/>
            <a:ext cx="57900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7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DF17267-AC74-7FDE-E0B0-F04A9B242FD9}"/>
              </a:ext>
            </a:extLst>
          </p:cNvPr>
          <p:cNvSpPr txBox="1"/>
          <p:nvPr/>
        </p:nvSpPr>
        <p:spPr>
          <a:xfrm>
            <a:off x="4448987" y="55123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29C583-5D5F-7E75-1E71-168112FED292}"/>
              </a:ext>
            </a:extLst>
          </p:cNvPr>
          <p:cNvSpPr txBox="1"/>
          <p:nvPr/>
        </p:nvSpPr>
        <p:spPr>
          <a:xfrm>
            <a:off x="6392854" y="5512340"/>
            <a:ext cx="63350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K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CFCEAC-68DB-6575-7426-19C6A33E1B59}"/>
              </a:ext>
            </a:extLst>
          </p:cNvPr>
          <p:cNvSpPr txBox="1"/>
          <p:nvPr/>
        </p:nvSpPr>
        <p:spPr>
          <a:xfrm>
            <a:off x="8344736" y="55123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9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EA88A9E-6E48-CDEE-947D-EC17A266278C}"/>
              </a:ext>
            </a:extLst>
          </p:cNvPr>
          <p:cNvSpPr txBox="1"/>
          <p:nvPr/>
        </p:nvSpPr>
        <p:spPr>
          <a:xfrm>
            <a:off x="10287000" y="5512340"/>
            <a:ext cx="93647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10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80D6AD4-18CE-2796-CD2E-7F71B362C016}"/>
              </a:ext>
            </a:extLst>
          </p:cNvPr>
          <p:cNvSpPr txBox="1"/>
          <p:nvPr/>
        </p:nvSpPr>
        <p:spPr>
          <a:xfrm>
            <a:off x="1322256" y="2554208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latin typeface="Pretendard Bold" panose="020B0600000101010101" charset="-127"/>
                <a:ea typeface="Pretendard Bold" panose="020B0600000101010101" charset="-127"/>
              </a:rPr>
              <a:t>OLD</a:t>
            </a:r>
            <a:endParaRPr lang="ko-KR" altLang="en-US" sz="40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7DAB9B4-E8A3-B676-837E-C233EEADA2DD}"/>
              </a:ext>
            </a:extLst>
          </p:cNvPr>
          <p:cNvSpPr txBox="1"/>
          <p:nvPr/>
        </p:nvSpPr>
        <p:spPr>
          <a:xfrm>
            <a:off x="666286" y="5520385"/>
            <a:ext cx="1362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>
                <a:solidFill>
                  <a:srgbClr val="FF0000"/>
                </a:solidFill>
                <a:latin typeface="Pretendard Bold" panose="020B0600000101010101" charset="-127"/>
                <a:ea typeface="Pretendard Bold" panose="020B0600000101010101" charset="-127"/>
              </a:rPr>
              <a:t>NEW</a:t>
            </a:r>
            <a:endParaRPr lang="ko-KR" altLang="en-US" sz="4000" dirty="0">
              <a:solidFill>
                <a:srgbClr val="FF000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46" name="그래픽 45" descr="스페이드 세트 단색으로 채워진">
            <a:extLst>
              <a:ext uri="{FF2B5EF4-FFF2-40B4-BE49-F238E27FC236}">
                <a16:creationId xmlns:a16="http://schemas.microsoft.com/office/drawing/2014/main" id="{D04F9DEA-84F2-FCB9-E882-D70EFDB2EC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959600" y="5377329"/>
            <a:ext cx="1080000" cy="1080000"/>
          </a:xfrm>
          <a:prstGeom prst="rect">
            <a:avLst/>
          </a:prstGeom>
        </p:spPr>
      </p:pic>
      <p:sp>
        <p:nvSpPr>
          <p:cNvPr id="48" name="화살표: 오른쪽 47">
            <a:extLst>
              <a:ext uri="{FF2B5EF4-FFF2-40B4-BE49-F238E27FC236}">
                <a16:creationId xmlns:a16="http://schemas.microsoft.com/office/drawing/2014/main" id="{1C504ED5-466E-3230-A2BC-49F43A1DBE00}"/>
              </a:ext>
            </a:extLst>
          </p:cNvPr>
          <p:cNvSpPr/>
          <p:nvPr/>
        </p:nvSpPr>
        <p:spPr>
          <a:xfrm rot="1344923">
            <a:off x="13251952" y="2978869"/>
            <a:ext cx="978408" cy="484632"/>
          </a:xfrm>
          <a:prstGeom prst="rightArrow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화살표: 오른쪽 49">
            <a:extLst>
              <a:ext uri="{FF2B5EF4-FFF2-40B4-BE49-F238E27FC236}">
                <a16:creationId xmlns:a16="http://schemas.microsoft.com/office/drawing/2014/main" id="{50B2903C-5895-9FBA-4924-587D6030441A}"/>
              </a:ext>
            </a:extLst>
          </p:cNvPr>
          <p:cNvSpPr/>
          <p:nvPr/>
        </p:nvSpPr>
        <p:spPr>
          <a:xfrm rot="9249223">
            <a:off x="12909489" y="5384234"/>
            <a:ext cx="978408" cy="484632"/>
          </a:xfrm>
          <a:prstGeom prst="rightArrow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래픽 2" descr="스페이드 세트 단색으로 채워진">
            <a:extLst>
              <a:ext uri="{FF2B5EF4-FFF2-40B4-BE49-F238E27FC236}">
                <a16:creationId xmlns:a16="http://schemas.microsoft.com/office/drawing/2014/main" id="{7C8FE9BE-CDA3-11EF-8BBE-D59762D1D6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69301" y="5377329"/>
            <a:ext cx="1080000" cy="1080000"/>
          </a:xfrm>
          <a:prstGeom prst="rect">
            <a:avLst/>
          </a:prstGeom>
        </p:spPr>
      </p:pic>
      <p:pic>
        <p:nvPicPr>
          <p:cNvPr id="22" name="그래픽 21" descr="스페이드 세트 단색으로 채워진">
            <a:extLst>
              <a:ext uri="{FF2B5EF4-FFF2-40B4-BE49-F238E27FC236}">
                <a16:creationId xmlns:a16="http://schemas.microsoft.com/office/drawing/2014/main" id="{BC18DB18-9A42-7EB9-493B-094F46F15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22600" y="5377329"/>
            <a:ext cx="1080000" cy="1080000"/>
          </a:xfrm>
          <a:prstGeom prst="rect">
            <a:avLst/>
          </a:prstGeom>
        </p:spPr>
      </p:pic>
      <p:pic>
        <p:nvPicPr>
          <p:cNvPr id="29" name="그래픽 28" descr="스페이드 세트 단색으로 채워진">
            <a:extLst>
              <a:ext uri="{FF2B5EF4-FFF2-40B4-BE49-F238E27FC236}">
                <a16:creationId xmlns:a16="http://schemas.microsoft.com/office/drawing/2014/main" id="{8591E5DD-BEF1-DA5F-8DCA-B983B6D318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53664" y="5377329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22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EAC7C-4E1D-6B97-0DFD-01ADDFE54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타원 28">
            <a:extLst>
              <a:ext uri="{FF2B5EF4-FFF2-40B4-BE49-F238E27FC236}">
                <a16:creationId xmlns:a16="http://schemas.microsoft.com/office/drawing/2014/main" id="{0E5DFA11-9865-4B32-40B3-7AF95B049074}"/>
              </a:ext>
            </a:extLst>
          </p:cNvPr>
          <p:cNvSpPr>
            <a:spLocks/>
          </p:cNvSpPr>
          <p:nvPr/>
        </p:nvSpPr>
        <p:spPr>
          <a:xfrm>
            <a:off x="723900" y="2781300"/>
            <a:ext cx="2880000" cy="288000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F1BE5D8-61CD-5F32-2F31-76E666FA392D}"/>
              </a:ext>
            </a:extLst>
          </p:cNvPr>
          <p:cNvSpPr>
            <a:spLocks/>
          </p:cNvSpPr>
          <p:nvPr/>
        </p:nvSpPr>
        <p:spPr>
          <a:xfrm>
            <a:off x="13321800" y="2611583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2FB51F48-2658-B0B6-663F-5B10BC9F5DA5}"/>
              </a:ext>
            </a:extLst>
          </p:cNvPr>
          <p:cNvSpPr txBox="1"/>
          <p:nvPr/>
        </p:nvSpPr>
        <p:spPr>
          <a:xfrm>
            <a:off x="6556375" y="266700"/>
            <a:ext cx="5175250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스킬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1023FE9-5AB5-AEAA-EDC9-F86321F24772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EA63963-E7E7-019D-B6FB-60175D3A78CC}"/>
              </a:ext>
            </a:extLst>
          </p:cNvPr>
          <p:cNvSpPr/>
          <p:nvPr/>
        </p:nvSpPr>
        <p:spPr>
          <a:xfrm>
            <a:off x="54864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EF6A8CC-5207-9F62-BDB7-8C05D1FEC143}"/>
              </a:ext>
            </a:extLst>
          </p:cNvPr>
          <p:cNvSpPr/>
          <p:nvPr/>
        </p:nvSpPr>
        <p:spPr>
          <a:xfrm>
            <a:off x="7467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6604C3A-A8F2-818F-3ADD-4422A2D1384C}"/>
              </a:ext>
            </a:extLst>
          </p:cNvPr>
          <p:cNvSpPr/>
          <p:nvPr/>
        </p:nvSpPr>
        <p:spPr>
          <a:xfrm>
            <a:off x="9435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66FC0FC-6A1A-D56E-76C2-EFB92890E0DB}"/>
              </a:ext>
            </a:extLst>
          </p:cNvPr>
          <p:cNvSpPr/>
          <p:nvPr/>
        </p:nvSpPr>
        <p:spPr>
          <a:xfrm>
            <a:off x="114168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DA13D69-AE75-EB03-DEB4-5B4C1C0E509A}"/>
              </a:ext>
            </a:extLst>
          </p:cNvPr>
          <p:cNvSpPr/>
          <p:nvPr/>
        </p:nvSpPr>
        <p:spPr>
          <a:xfrm>
            <a:off x="133980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래픽 12" descr="클로버 단색으로 채워진">
            <a:extLst>
              <a:ext uri="{FF2B5EF4-FFF2-40B4-BE49-F238E27FC236}">
                <a16:creationId xmlns:a16="http://schemas.microsoft.com/office/drawing/2014/main" id="{3CBEFBF3-DFA8-AA37-BAFA-37671B26E1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1400" y="3581727"/>
            <a:ext cx="1080000" cy="1080000"/>
          </a:xfrm>
          <a:prstGeom prst="rect">
            <a:avLst/>
          </a:prstGeom>
        </p:spPr>
      </p:pic>
      <p:pic>
        <p:nvPicPr>
          <p:cNvPr id="14" name="그래픽 13" descr="다이아몬드 단색으로 채워진">
            <a:extLst>
              <a:ext uri="{FF2B5EF4-FFF2-40B4-BE49-F238E27FC236}">
                <a16:creationId xmlns:a16="http://schemas.microsoft.com/office/drawing/2014/main" id="{D607154F-9B1C-C5DD-621F-37688CDB0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83800" y="3581727"/>
            <a:ext cx="1080000" cy="1080000"/>
          </a:xfrm>
          <a:prstGeom prst="rect">
            <a:avLst/>
          </a:prstGeom>
        </p:spPr>
      </p:pic>
      <p:pic>
        <p:nvPicPr>
          <p:cNvPr id="15" name="그래픽 14" descr="스페이드 세트 단색으로 채워진">
            <a:extLst>
              <a:ext uri="{FF2B5EF4-FFF2-40B4-BE49-F238E27FC236}">
                <a16:creationId xmlns:a16="http://schemas.microsoft.com/office/drawing/2014/main" id="{0D1C8EEC-4613-F4D5-770C-9517D4B7A1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9000" y="3581727"/>
            <a:ext cx="1080000" cy="108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4DBF85E-7FFF-35BE-043F-19DEA1B214F0}"/>
              </a:ext>
            </a:extLst>
          </p:cNvPr>
          <p:cNvSpPr txBox="1"/>
          <p:nvPr/>
        </p:nvSpPr>
        <p:spPr>
          <a:xfrm>
            <a:off x="5622908" y="36835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chemeClr val="bg1">
                    <a:lumMod val="50000"/>
                  </a:schemeClr>
                </a:solidFill>
                <a:latin typeface="Pretendard Medium" panose="020B0600000101010101" charset="-127"/>
                <a:ea typeface="Pretendard Medium" panose="020B0600000101010101" charset="-127"/>
              </a:rPr>
              <a:t>6</a:t>
            </a:r>
            <a:endParaRPr lang="ko-KR" altLang="en-US" sz="5500" dirty="0">
              <a:solidFill>
                <a:schemeClr val="bg1">
                  <a:lumMod val="50000"/>
                </a:schemeClr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A9D9AC-1F3E-A40A-6183-35E06FAF74F8}"/>
              </a:ext>
            </a:extLst>
          </p:cNvPr>
          <p:cNvSpPr txBox="1"/>
          <p:nvPr/>
        </p:nvSpPr>
        <p:spPr>
          <a:xfrm>
            <a:off x="7620000" y="3683540"/>
            <a:ext cx="70403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AFAF"/>
                </a:solidFill>
                <a:latin typeface="Pretendard Medium" panose="020B0600000101010101" charset="-127"/>
                <a:ea typeface="Pretendard Medium" panose="020B0600000101010101" charset="-127"/>
              </a:rPr>
              <a:t>Q</a:t>
            </a:r>
            <a:endParaRPr lang="ko-KR" altLang="en-US" sz="5500" dirty="0">
              <a:solidFill>
                <a:srgbClr val="FFAFAF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0274BC-9CC1-F4C2-AB8A-2491C929A8A6}"/>
              </a:ext>
            </a:extLst>
          </p:cNvPr>
          <p:cNvSpPr txBox="1"/>
          <p:nvPr/>
        </p:nvSpPr>
        <p:spPr>
          <a:xfrm>
            <a:off x="9588000" y="3683540"/>
            <a:ext cx="60465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chemeClr val="bg1">
                    <a:lumMod val="50000"/>
                  </a:schemeClr>
                </a:solidFill>
                <a:latin typeface="Pretendard Medium" panose="020B0600000101010101" charset="-127"/>
                <a:ea typeface="Pretendard Medium" panose="020B0600000101010101" charset="-127"/>
              </a:rPr>
              <a:t>2</a:t>
            </a:r>
            <a:endParaRPr lang="ko-KR" altLang="en-US" sz="5500" dirty="0">
              <a:solidFill>
                <a:schemeClr val="bg1">
                  <a:lumMod val="50000"/>
                </a:schemeClr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87ACA5E-559A-BD1C-A26E-D0C951C579C1}"/>
              </a:ext>
            </a:extLst>
          </p:cNvPr>
          <p:cNvSpPr txBox="1"/>
          <p:nvPr/>
        </p:nvSpPr>
        <p:spPr>
          <a:xfrm>
            <a:off x="11569200" y="3683540"/>
            <a:ext cx="62068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chemeClr val="bg1">
                    <a:lumMod val="50000"/>
                  </a:schemeClr>
                </a:solidFill>
                <a:latin typeface="Pretendard Medium" panose="020B0600000101010101" charset="-127"/>
                <a:ea typeface="Pretendard Medium" panose="020B0600000101010101" charset="-127"/>
              </a:rPr>
              <a:t>8</a:t>
            </a:r>
            <a:endParaRPr lang="ko-KR" altLang="en-US" sz="5500" dirty="0">
              <a:solidFill>
                <a:schemeClr val="bg1">
                  <a:lumMod val="50000"/>
                </a:schemeClr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206D9D-BE8F-7E8E-8EB0-9077FF32B76D}"/>
              </a:ext>
            </a:extLst>
          </p:cNvPr>
          <p:cNvSpPr txBox="1"/>
          <p:nvPr/>
        </p:nvSpPr>
        <p:spPr>
          <a:xfrm>
            <a:off x="13550400" y="3683540"/>
            <a:ext cx="63350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K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CD49BFB-3E50-C609-E76C-AD909EDB6456}"/>
              </a:ext>
            </a:extLst>
          </p:cNvPr>
          <p:cNvSpPr/>
          <p:nvPr/>
        </p:nvSpPr>
        <p:spPr>
          <a:xfrm>
            <a:off x="1905000" y="7144780"/>
            <a:ext cx="14744700" cy="25200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플레이어는 손에 들은 카드에 따라 사용하는 스킬이 달라진다</a:t>
            </a:r>
            <a:endParaRPr lang="en-US" altLang="ko-KR" sz="28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스킬은 </a:t>
            </a:r>
            <a:r>
              <a:rPr lang="en-US" altLang="ko-KR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Q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를 통해 사용이 가능하며</a:t>
            </a:r>
            <a:r>
              <a:rPr lang="en-US" altLang="ko-KR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사용시 카드를 소모한다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FF52F43D-65A3-6F69-2D7E-C74EC22748CB}"/>
              </a:ext>
            </a:extLst>
          </p:cNvPr>
          <p:cNvSpPr/>
          <p:nvPr/>
        </p:nvSpPr>
        <p:spPr>
          <a:xfrm>
            <a:off x="15420437" y="2705099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7EDA1FD1-202A-8E04-B3B8-16A2DF0A4DC3}"/>
              </a:ext>
            </a:extLst>
          </p:cNvPr>
          <p:cNvSpPr/>
          <p:nvPr/>
        </p:nvSpPr>
        <p:spPr>
          <a:xfrm>
            <a:off x="1548009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82BFEB88-CCE2-E9D4-27A9-A27B9420A608}"/>
              </a:ext>
            </a:extLst>
          </p:cNvPr>
          <p:cNvSpPr/>
          <p:nvPr/>
        </p:nvSpPr>
        <p:spPr>
          <a:xfrm>
            <a:off x="1553975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88ED2D6-B0C1-D7F7-456C-5C17FC0E424C}"/>
              </a:ext>
            </a:extLst>
          </p:cNvPr>
          <p:cNvSpPr/>
          <p:nvPr/>
        </p:nvSpPr>
        <p:spPr>
          <a:xfrm>
            <a:off x="15574393" y="2642755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8053121B-CD32-A149-539C-3424E27429B9}"/>
              </a:ext>
            </a:extLst>
          </p:cNvPr>
          <p:cNvSpPr/>
          <p:nvPr/>
        </p:nvSpPr>
        <p:spPr>
          <a:xfrm>
            <a:off x="15572837" y="2611583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0815119-A17B-CE77-6DB8-95F2BF6396E7}"/>
              </a:ext>
            </a:extLst>
          </p:cNvPr>
          <p:cNvSpPr/>
          <p:nvPr/>
        </p:nvSpPr>
        <p:spPr>
          <a:xfrm>
            <a:off x="15621000" y="2580411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44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3" name="그래픽 2" descr="빛나는 하트 단색으로 채워진">
            <a:extLst>
              <a:ext uri="{FF2B5EF4-FFF2-40B4-BE49-F238E27FC236}">
                <a16:creationId xmlns:a16="http://schemas.microsoft.com/office/drawing/2014/main" id="{63E34240-447A-C15E-CA12-ECD9D3E9E43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35925" y="3612899"/>
            <a:ext cx="1080000" cy="1080000"/>
          </a:xfrm>
          <a:prstGeom prst="rect">
            <a:avLst/>
          </a:prstGeom>
        </p:spPr>
      </p:pic>
      <p:pic>
        <p:nvPicPr>
          <p:cNvPr id="5" name="그래픽 4" descr="클로버 단색으로 채워진">
            <a:extLst>
              <a:ext uri="{FF2B5EF4-FFF2-40B4-BE49-F238E27FC236}">
                <a16:creationId xmlns:a16="http://schemas.microsoft.com/office/drawing/2014/main" id="{9C38F02C-EEB7-CC8E-D0DF-5B4AE37FE5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90178" y="3585190"/>
            <a:ext cx="1080000" cy="1080000"/>
          </a:xfrm>
          <a:prstGeom prst="rect">
            <a:avLst/>
          </a:prstGeom>
        </p:spPr>
      </p:pic>
      <p:pic>
        <p:nvPicPr>
          <p:cNvPr id="7" name="그래픽 6" descr="다이아몬드 단색으로 채워진">
            <a:extLst>
              <a:ext uri="{FF2B5EF4-FFF2-40B4-BE49-F238E27FC236}">
                <a16:creationId xmlns:a16="http://schemas.microsoft.com/office/drawing/2014/main" id="{0D63B2D9-17D9-AFCB-2D76-4B45906E5E4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8200" y="3128211"/>
            <a:ext cx="1800000" cy="1800000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6FAB89E1-7C40-2A46-F94D-846DD9FE7AC6}"/>
              </a:ext>
            </a:extLst>
          </p:cNvPr>
          <p:cNvSpPr/>
          <p:nvPr/>
        </p:nvSpPr>
        <p:spPr>
          <a:xfrm>
            <a:off x="1216964" y="3158160"/>
            <a:ext cx="914400" cy="9144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DCCD4C0-03F9-775C-AC76-FDDBC5A53EB3}"/>
              </a:ext>
            </a:extLst>
          </p:cNvPr>
          <p:cNvSpPr/>
          <p:nvPr/>
        </p:nvSpPr>
        <p:spPr>
          <a:xfrm>
            <a:off x="2360101" y="3494133"/>
            <a:ext cx="583799" cy="609600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33C3B189-F8A3-0C12-DF66-F4B0D1D4D208}"/>
              </a:ext>
            </a:extLst>
          </p:cNvPr>
          <p:cNvSpPr/>
          <p:nvPr/>
        </p:nvSpPr>
        <p:spPr>
          <a:xfrm>
            <a:off x="1736299" y="4279942"/>
            <a:ext cx="467809" cy="435256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DDB1F4-C5C5-3F9E-6F34-F1EED5CFAD16}"/>
              </a:ext>
            </a:extLst>
          </p:cNvPr>
          <p:cNvSpPr txBox="1"/>
          <p:nvPr/>
        </p:nvSpPr>
        <p:spPr>
          <a:xfrm>
            <a:off x="1401645" y="4958160"/>
            <a:ext cx="16049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Pretendard Bold" panose="020B0600000101010101" charset="-127"/>
                <a:ea typeface="Pretendard Bold" panose="020B0600000101010101" charset="-127"/>
              </a:rPr>
              <a:t>에너지볼 </a:t>
            </a:r>
            <a:r>
              <a:rPr lang="en-US" altLang="ko-KR" sz="2000" dirty="0">
                <a:latin typeface="Pretendard Bold" panose="020B0600000101010101" charset="-127"/>
                <a:ea typeface="Pretendard Bold" panose="020B0600000101010101" charset="-127"/>
              </a:rPr>
              <a:t>Lv.1</a:t>
            </a:r>
            <a:endParaRPr lang="ko-KR" altLang="en-US" sz="20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6B2DAA02-5C33-8670-82E0-CF00CB86234F}"/>
              </a:ext>
            </a:extLst>
          </p:cNvPr>
          <p:cNvSpPr/>
          <p:nvPr/>
        </p:nvSpPr>
        <p:spPr>
          <a:xfrm rot="10800000">
            <a:off x="3988958" y="3978984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65B9EE6-CDEA-3553-FBCB-9AA5D702FFB9}"/>
              </a:ext>
            </a:extLst>
          </p:cNvPr>
          <p:cNvSpPr txBox="1"/>
          <p:nvPr/>
        </p:nvSpPr>
        <p:spPr>
          <a:xfrm rot="21114913">
            <a:off x="12944366" y="2070587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Pretendard Bold" panose="020B0600000101010101" charset="-127"/>
                <a:ea typeface="Pretendard Bold" panose="020B0600000101010101" charset="-127"/>
              </a:rPr>
              <a:t>High Card!</a:t>
            </a:r>
            <a:endParaRPr lang="ko-KR" altLang="en-US" sz="2000" dirty="0">
              <a:solidFill>
                <a:schemeClr val="accent5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7481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B1EF-BCAD-8F6F-AD0C-97953024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153F052-385F-0456-F0D4-1DC5CC4F452D}"/>
              </a:ext>
            </a:extLst>
          </p:cNvPr>
          <p:cNvSpPr>
            <a:spLocks/>
          </p:cNvSpPr>
          <p:nvPr/>
        </p:nvSpPr>
        <p:spPr>
          <a:xfrm>
            <a:off x="9358054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0E830F8D-BEA2-56EC-FB37-1993CF587752}"/>
              </a:ext>
            </a:extLst>
          </p:cNvPr>
          <p:cNvSpPr>
            <a:spLocks/>
          </p:cNvSpPr>
          <p:nvPr/>
        </p:nvSpPr>
        <p:spPr>
          <a:xfrm>
            <a:off x="1204672" y="1913853"/>
            <a:ext cx="2160000" cy="216000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282888DB-0E5E-F869-E151-373FB321A397}"/>
              </a:ext>
            </a:extLst>
          </p:cNvPr>
          <p:cNvSpPr>
            <a:spLocks/>
          </p:cNvSpPr>
          <p:nvPr/>
        </p:nvSpPr>
        <p:spPr>
          <a:xfrm>
            <a:off x="133218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37DE01D3-7901-C51A-B6A0-CB1D54D385F5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스킬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C23701D-D303-C641-BA5C-3FAEF409FB9F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B8EE17A-ABB5-FEEB-1061-7CA5A6A547D6}"/>
              </a:ext>
            </a:extLst>
          </p:cNvPr>
          <p:cNvSpPr/>
          <p:nvPr/>
        </p:nvSpPr>
        <p:spPr>
          <a:xfrm>
            <a:off x="54864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9417CD7-4232-16C4-778B-4790F7DCEE4C}"/>
              </a:ext>
            </a:extLst>
          </p:cNvPr>
          <p:cNvSpPr/>
          <p:nvPr/>
        </p:nvSpPr>
        <p:spPr>
          <a:xfrm>
            <a:off x="7467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EA15212-BA3E-8D8B-FA0C-414C235F013A}"/>
              </a:ext>
            </a:extLst>
          </p:cNvPr>
          <p:cNvSpPr/>
          <p:nvPr/>
        </p:nvSpPr>
        <p:spPr>
          <a:xfrm>
            <a:off x="9435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641A03B5-1A92-A320-084A-ECC6D0101E39}"/>
              </a:ext>
            </a:extLst>
          </p:cNvPr>
          <p:cNvSpPr/>
          <p:nvPr/>
        </p:nvSpPr>
        <p:spPr>
          <a:xfrm>
            <a:off x="114168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FB46A1-3405-BE4E-B68C-D4225AE04426}"/>
              </a:ext>
            </a:extLst>
          </p:cNvPr>
          <p:cNvSpPr/>
          <p:nvPr/>
        </p:nvSpPr>
        <p:spPr>
          <a:xfrm>
            <a:off x="133980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3" name="그래픽 12" descr="클로버 단색으로 채워진">
            <a:extLst>
              <a:ext uri="{FF2B5EF4-FFF2-40B4-BE49-F238E27FC236}">
                <a16:creationId xmlns:a16="http://schemas.microsoft.com/office/drawing/2014/main" id="{4378656B-34D0-C8CB-1340-961AD80AD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1400" y="3581727"/>
            <a:ext cx="1080000" cy="1080000"/>
          </a:xfrm>
          <a:prstGeom prst="rect">
            <a:avLst/>
          </a:prstGeom>
        </p:spPr>
      </p:pic>
      <p:pic>
        <p:nvPicPr>
          <p:cNvPr id="14" name="그래픽 13" descr="다이아몬드 단색으로 채워진">
            <a:extLst>
              <a:ext uri="{FF2B5EF4-FFF2-40B4-BE49-F238E27FC236}">
                <a16:creationId xmlns:a16="http://schemas.microsoft.com/office/drawing/2014/main" id="{A839D9EF-56C8-1541-60FD-60970F13EE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083800" y="3581727"/>
            <a:ext cx="1080000" cy="1080000"/>
          </a:xfrm>
          <a:prstGeom prst="rect">
            <a:avLst/>
          </a:prstGeom>
        </p:spPr>
      </p:pic>
      <p:pic>
        <p:nvPicPr>
          <p:cNvPr id="15" name="그래픽 14" descr="스페이드 세트 단색으로 채워진">
            <a:extLst>
              <a:ext uri="{FF2B5EF4-FFF2-40B4-BE49-F238E27FC236}">
                <a16:creationId xmlns:a16="http://schemas.microsoft.com/office/drawing/2014/main" id="{48CDE7CA-5F8C-DB28-2C5D-3EACEBA045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9454" y="3581727"/>
            <a:ext cx="1080000" cy="108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7D5CE96-EAF7-774C-31F7-51140649D26A}"/>
              </a:ext>
            </a:extLst>
          </p:cNvPr>
          <p:cNvSpPr txBox="1"/>
          <p:nvPr/>
        </p:nvSpPr>
        <p:spPr>
          <a:xfrm>
            <a:off x="7539142" y="3683540"/>
            <a:ext cx="61266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chemeClr val="bg1">
                    <a:lumMod val="50000"/>
                  </a:schemeClr>
                </a:solidFill>
                <a:latin typeface="Pretendard Medium" panose="020B0600000101010101" charset="-127"/>
                <a:ea typeface="Pretendard Medium" panose="020B0600000101010101" charset="-127"/>
              </a:rPr>
              <a:t>5</a:t>
            </a:r>
            <a:endParaRPr lang="ko-KR" altLang="en-US" sz="5500" dirty="0">
              <a:solidFill>
                <a:schemeClr val="bg1">
                  <a:lumMod val="50000"/>
                </a:schemeClr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77408ED-9721-9A7C-5EB1-06D1D2F94474}"/>
              </a:ext>
            </a:extLst>
          </p:cNvPr>
          <p:cNvSpPr txBox="1"/>
          <p:nvPr/>
        </p:nvSpPr>
        <p:spPr>
          <a:xfrm>
            <a:off x="5541267" y="36835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AFAF"/>
                </a:solidFill>
                <a:latin typeface="Pretendard Medium" panose="020B0600000101010101" charset="-127"/>
                <a:ea typeface="Pretendard Medium" panose="020B0600000101010101" charset="-127"/>
              </a:rPr>
              <a:t>9</a:t>
            </a:r>
            <a:endParaRPr lang="ko-KR" altLang="en-US" sz="5500" dirty="0">
              <a:solidFill>
                <a:srgbClr val="FFAFAF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FD4718-E5D6-EC82-3FBB-851F2A8EDC5F}"/>
              </a:ext>
            </a:extLst>
          </p:cNvPr>
          <p:cNvSpPr txBox="1"/>
          <p:nvPr/>
        </p:nvSpPr>
        <p:spPr>
          <a:xfrm>
            <a:off x="9524193" y="36835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5CC675-AB9C-3D6F-41B2-D33F09A37925}"/>
              </a:ext>
            </a:extLst>
          </p:cNvPr>
          <p:cNvSpPr txBox="1"/>
          <p:nvPr/>
        </p:nvSpPr>
        <p:spPr>
          <a:xfrm>
            <a:off x="11522068" y="3683540"/>
            <a:ext cx="65594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AFAF"/>
                </a:solidFill>
                <a:latin typeface="Pretendard Medium" panose="020B0600000101010101" charset="-127"/>
                <a:ea typeface="Pretendard Medium" panose="020B0600000101010101" charset="-127"/>
              </a:rPr>
              <a:t>4</a:t>
            </a:r>
            <a:endParaRPr lang="ko-KR" altLang="en-US" sz="5500" dirty="0">
              <a:solidFill>
                <a:srgbClr val="FFAFAF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546A387-1F73-A53F-2BE0-9BF95267D22D}"/>
              </a:ext>
            </a:extLst>
          </p:cNvPr>
          <p:cNvSpPr txBox="1"/>
          <p:nvPr/>
        </p:nvSpPr>
        <p:spPr>
          <a:xfrm>
            <a:off x="13550400" y="3683540"/>
            <a:ext cx="63350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FF9CCD2-E872-E5D4-0C18-55A03828193A}"/>
              </a:ext>
            </a:extLst>
          </p:cNvPr>
          <p:cNvSpPr/>
          <p:nvPr/>
        </p:nvSpPr>
        <p:spPr>
          <a:xfrm>
            <a:off x="1905000" y="7195500"/>
            <a:ext cx="14744700" cy="25200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카드의 숫자가 같은 경우</a:t>
            </a:r>
            <a:endParaRPr lang="en-US" altLang="ko-KR" sz="28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algn="ctr"/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스킬의 레벨이 올라간다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9751E05-0B66-A105-970A-440CF72D2475}"/>
              </a:ext>
            </a:extLst>
          </p:cNvPr>
          <p:cNvSpPr/>
          <p:nvPr/>
        </p:nvSpPr>
        <p:spPr>
          <a:xfrm>
            <a:off x="15420437" y="2705099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EBDD4CDD-4443-730F-35C7-48378EA0A5E9}"/>
              </a:ext>
            </a:extLst>
          </p:cNvPr>
          <p:cNvSpPr/>
          <p:nvPr/>
        </p:nvSpPr>
        <p:spPr>
          <a:xfrm>
            <a:off x="1548009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F7AB09B7-787A-1242-0BA0-D0FAEC61AF34}"/>
              </a:ext>
            </a:extLst>
          </p:cNvPr>
          <p:cNvSpPr/>
          <p:nvPr/>
        </p:nvSpPr>
        <p:spPr>
          <a:xfrm>
            <a:off x="1553975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2A3EA92-208C-B3DE-747D-6B7E178B2601}"/>
              </a:ext>
            </a:extLst>
          </p:cNvPr>
          <p:cNvSpPr/>
          <p:nvPr/>
        </p:nvSpPr>
        <p:spPr>
          <a:xfrm>
            <a:off x="15574393" y="2642755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B30BA903-AEF9-7071-D43D-1D564A734DFB}"/>
              </a:ext>
            </a:extLst>
          </p:cNvPr>
          <p:cNvSpPr/>
          <p:nvPr/>
        </p:nvSpPr>
        <p:spPr>
          <a:xfrm>
            <a:off x="15621000" y="2628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39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3" name="그래픽 2" descr="빛나는 하트 단색으로 채워진">
            <a:extLst>
              <a:ext uri="{FF2B5EF4-FFF2-40B4-BE49-F238E27FC236}">
                <a16:creationId xmlns:a16="http://schemas.microsoft.com/office/drawing/2014/main" id="{8B974DDF-9560-38CF-AE47-17ECDD427A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57192" y="3581727"/>
            <a:ext cx="1080000" cy="1080000"/>
          </a:xfrm>
          <a:prstGeom prst="rect">
            <a:avLst/>
          </a:prstGeom>
        </p:spPr>
      </p:pic>
      <p:pic>
        <p:nvPicPr>
          <p:cNvPr id="7" name="그래픽 6" descr="다이아몬드 단색으로 채워진">
            <a:extLst>
              <a:ext uri="{FF2B5EF4-FFF2-40B4-BE49-F238E27FC236}">
                <a16:creationId xmlns:a16="http://schemas.microsoft.com/office/drawing/2014/main" id="{DCD565D3-CC65-2E8C-B936-FA446F120A0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529198" y="2098960"/>
            <a:ext cx="1488067" cy="1488067"/>
          </a:xfrm>
          <a:prstGeom prst="rect">
            <a:avLst/>
          </a:prstGeom>
        </p:spPr>
      </p:pic>
      <p:sp>
        <p:nvSpPr>
          <p:cNvPr id="16" name="타원 15">
            <a:extLst>
              <a:ext uri="{FF2B5EF4-FFF2-40B4-BE49-F238E27FC236}">
                <a16:creationId xmlns:a16="http://schemas.microsoft.com/office/drawing/2014/main" id="{A1FA8A37-8DAE-4925-C985-B12AD4FF7C99}"/>
              </a:ext>
            </a:extLst>
          </p:cNvPr>
          <p:cNvSpPr>
            <a:spLocks noChangeAspect="1"/>
          </p:cNvSpPr>
          <p:nvPr/>
        </p:nvSpPr>
        <p:spPr>
          <a:xfrm>
            <a:off x="1642283" y="2316499"/>
            <a:ext cx="672143" cy="672143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6B643438-231C-3C1C-E611-9BF92D104C76}"/>
              </a:ext>
            </a:extLst>
          </p:cNvPr>
          <p:cNvSpPr>
            <a:spLocks noChangeAspect="1"/>
          </p:cNvSpPr>
          <p:nvPr/>
        </p:nvSpPr>
        <p:spPr>
          <a:xfrm>
            <a:off x="2506255" y="2640822"/>
            <a:ext cx="429130" cy="448095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4A3BBDBE-91C8-A63A-83C5-F8141345783B}"/>
              </a:ext>
            </a:extLst>
          </p:cNvPr>
          <p:cNvSpPr>
            <a:spLocks noChangeAspect="1"/>
          </p:cNvSpPr>
          <p:nvPr/>
        </p:nvSpPr>
        <p:spPr>
          <a:xfrm>
            <a:off x="2095582" y="3085854"/>
            <a:ext cx="343870" cy="319941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C6EF64-778B-0881-D8CE-ED70740A0EDB}"/>
              </a:ext>
            </a:extLst>
          </p:cNvPr>
          <p:cNvSpPr txBox="1"/>
          <p:nvPr/>
        </p:nvSpPr>
        <p:spPr>
          <a:xfrm>
            <a:off x="1672586" y="3576636"/>
            <a:ext cx="12012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 Bold" panose="020B0600000101010101" charset="-127"/>
                <a:ea typeface="Pretendard Bold" panose="020B0600000101010101" charset="-127"/>
              </a:rPr>
              <a:t>에너지볼 </a:t>
            </a:r>
            <a:r>
              <a:rPr lang="en-US" altLang="ko-KR" sz="1400" dirty="0">
                <a:latin typeface="Pretendard Bold" panose="020B0600000101010101" charset="-127"/>
                <a:ea typeface="Pretendard Bold" panose="020B0600000101010101" charset="-127"/>
              </a:rPr>
              <a:t>Lv.2</a:t>
            </a:r>
            <a:endParaRPr lang="ko-KR" altLang="en-US" sz="1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39324B07-26A1-ACD5-A224-5D34BB8421FF}"/>
              </a:ext>
            </a:extLst>
          </p:cNvPr>
          <p:cNvSpPr/>
          <p:nvPr/>
        </p:nvSpPr>
        <p:spPr>
          <a:xfrm rot="10800000">
            <a:off x="3988958" y="3978984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CC4F16-DC6A-8770-A2FA-753719E74B46}"/>
              </a:ext>
            </a:extLst>
          </p:cNvPr>
          <p:cNvSpPr txBox="1"/>
          <p:nvPr/>
        </p:nvSpPr>
        <p:spPr>
          <a:xfrm rot="21114913">
            <a:off x="12952351" y="2143529"/>
            <a:ext cx="128432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Pretendard Bold" panose="020B0600000101010101" charset="-127"/>
                <a:ea typeface="Pretendard Bold" panose="020B0600000101010101" charset="-127"/>
              </a:rPr>
              <a:t>One Pair!</a:t>
            </a:r>
            <a:endParaRPr lang="ko-KR" altLang="en-US" sz="2000" dirty="0">
              <a:solidFill>
                <a:schemeClr val="accent5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19" name="그래픽 18" descr="다이아몬드 단색으로 채워진">
            <a:extLst>
              <a:ext uri="{FF2B5EF4-FFF2-40B4-BE49-F238E27FC236}">
                <a16:creationId xmlns:a16="http://schemas.microsoft.com/office/drawing/2014/main" id="{C2241587-1FF7-5D68-2D9E-5AA05B78164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2089400" y="3581727"/>
            <a:ext cx="1080000" cy="1080000"/>
          </a:xfrm>
          <a:prstGeom prst="rect">
            <a:avLst/>
          </a:prstGeom>
        </p:spPr>
      </p:pic>
      <p:sp>
        <p:nvSpPr>
          <p:cNvPr id="38" name="타원 37">
            <a:extLst>
              <a:ext uri="{FF2B5EF4-FFF2-40B4-BE49-F238E27FC236}">
                <a16:creationId xmlns:a16="http://schemas.microsoft.com/office/drawing/2014/main" id="{0BD48BCD-B8CA-A8D5-CC52-CD17B43595B0}"/>
              </a:ext>
            </a:extLst>
          </p:cNvPr>
          <p:cNvSpPr>
            <a:spLocks/>
          </p:cNvSpPr>
          <p:nvPr/>
        </p:nvSpPr>
        <p:spPr>
          <a:xfrm>
            <a:off x="1204663" y="4431300"/>
            <a:ext cx="2160000" cy="21600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2C5E1DA-FB18-B8A7-CED7-E9D944B3B63B}"/>
              </a:ext>
            </a:extLst>
          </p:cNvPr>
          <p:cNvSpPr txBox="1"/>
          <p:nvPr/>
        </p:nvSpPr>
        <p:spPr>
          <a:xfrm>
            <a:off x="1817384" y="6103559"/>
            <a:ext cx="1201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Pretendard Bold" panose="020B0600000101010101" charset="-127"/>
                <a:ea typeface="Pretendard Bold" panose="020B0600000101010101" charset="-127"/>
              </a:rPr>
              <a:t>눈보라 </a:t>
            </a:r>
            <a:r>
              <a:rPr lang="en-US" altLang="ko-KR" sz="1400" dirty="0">
                <a:latin typeface="Pretendard Bold" panose="020B0600000101010101" charset="-127"/>
                <a:ea typeface="Pretendard Bold" panose="020B0600000101010101" charset="-127"/>
              </a:rPr>
              <a:t>Lv.2</a:t>
            </a:r>
            <a:endParaRPr lang="ko-KR" altLang="en-US" sz="1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44" name="그래픽 43" descr="클로버 단색으로 채워진">
            <a:extLst>
              <a:ext uri="{FF2B5EF4-FFF2-40B4-BE49-F238E27FC236}">
                <a16:creationId xmlns:a16="http://schemas.microsoft.com/office/drawing/2014/main" id="{B73B1D85-FD90-4545-F9F0-7C7DAB42BF5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727517" y="4690270"/>
            <a:ext cx="1080000" cy="1080000"/>
          </a:xfrm>
          <a:prstGeom prst="rect">
            <a:avLst/>
          </a:prstGeom>
        </p:spPr>
      </p:pic>
      <p:sp>
        <p:nvSpPr>
          <p:cNvPr id="45" name="별: 꼭짓점 7개 44">
            <a:extLst>
              <a:ext uri="{FF2B5EF4-FFF2-40B4-BE49-F238E27FC236}">
                <a16:creationId xmlns:a16="http://schemas.microsoft.com/office/drawing/2014/main" id="{79847677-C73E-03C6-5CED-B8842C084B23}"/>
              </a:ext>
            </a:extLst>
          </p:cNvPr>
          <p:cNvSpPr>
            <a:spLocks noChangeAspect="1"/>
          </p:cNvSpPr>
          <p:nvPr/>
        </p:nvSpPr>
        <p:spPr>
          <a:xfrm rot="1681599">
            <a:off x="1622274" y="4710959"/>
            <a:ext cx="462797" cy="462797"/>
          </a:xfrm>
          <a:prstGeom prst="star7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별: 꼭짓점 7개 45">
            <a:extLst>
              <a:ext uri="{FF2B5EF4-FFF2-40B4-BE49-F238E27FC236}">
                <a16:creationId xmlns:a16="http://schemas.microsoft.com/office/drawing/2014/main" id="{B3854EE4-433D-58AD-D92A-F6EE5524B86C}"/>
              </a:ext>
            </a:extLst>
          </p:cNvPr>
          <p:cNvSpPr>
            <a:spLocks noChangeAspect="1"/>
          </p:cNvSpPr>
          <p:nvPr/>
        </p:nvSpPr>
        <p:spPr>
          <a:xfrm rot="20655717">
            <a:off x="2448432" y="4815452"/>
            <a:ext cx="173369" cy="173369"/>
          </a:xfrm>
          <a:prstGeom prst="star7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별: 꼭짓점 7개 46">
            <a:extLst>
              <a:ext uri="{FF2B5EF4-FFF2-40B4-BE49-F238E27FC236}">
                <a16:creationId xmlns:a16="http://schemas.microsoft.com/office/drawing/2014/main" id="{6DDAC5A6-04E7-91E6-4D6F-F79CE21CE1AE}"/>
              </a:ext>
            </a:extLst>
          </p:cNvPr>
          <p:cNvSpPr>
            <a:spLocks noChangeAspect="1"/>
          </p:cNvSpPr>
          <p:nvPr/>
        </p:nvSpPr>
        <p:spPr>
          <a:xfrm>
            <a:off x="2220573" y="5392995"/>
            <a:ext cx="285681" cy="285681"/>
          </a:xfrm>
          <a:prstGeom prst="star7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별: 꼭짓점 7개 47">
            <a:extLst>
              <a:ext uri="{FF2B5EF4-FFF2-40B4-BE49-F238E27FC236}">
                <a16:creationId xmlns:a16="http://schemas.microsoft.com/office/drawing/2014/main" id="{07DB5F6F-84F1-2D14-4E2A-C7CE83892264}"/>
              </a:ext>
            </a:extLst>
          </p:cNvPr>
          <p:cNvSpPr>
            <a:spLocks noChangeAspect="1"/>
          </p:cNvSpPr>
          <p:nvPr/>
        </p:nvSpPr>
        <p:spPr>
          <a:xfrm>
            <a:off x="2592915" y="5014654"/>
            <a:ext cx="441335" cy="441335"/>
          </a:xfrm>
          <a:prstGeom prst="star7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별: 꼭짓점 7개 48">
            <a:extLst>
              <a:ext uri="{FF2B5EF4-FFF2-40B4-BE49-F238E27FC236}">
                <a16:creationId xmlns:a16="http://schemas.microsoft.com/office/drawing/2014/main" id="{8A1EA58F-0240-09CE-4E7A-9985205739C9}"/>
              </a:ext>
            </a:extLst>
          </p:cNvPr>
          <p:cNvSpPr>
            <a:spLocks noChangeAspect="1"/>
          </p:cNvSpPr>
          <p:nvPr/>
        </p:nvSpPr>
        <p:spPr>
          <a:xfrm rot="19097119">
            <a:off x="1699771" y="5331300"/>
            <a:ext cx="360000" cy="360000"/>
          </a:xfrm>
          <a:prstGeom prst="star7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F8D6FA21-CBC6-6A3D-01E4-30CEF40B4BE6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원페어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 /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트리플</a:t>
            </a: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4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2400" b="0" i="0" u="none" strike="noStrike" dirty="0" err="1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포카드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</p:spTree>
    <p:extLst>
      <p:ext uri="{BB962C8B-B14F-4D97-AF65-F5344CB8AC3E}">
        <p14:creationId xmlns:p14="http://schemas.microsoft.com/office/powerpoint/2010/main" val="2366267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DF704-FB68-60CD-A4F4-373496898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5CD799B-5638-78AF-2DFD-F301A62A8A02}"/>
              </a:ext>
            </a:extLst>
          </p:cNvPr>
          <p:cNvSpPr>
            <a:spLocks/>
          </p:cNvSpPr>
          <p:nvPr/>
        </p:nvSpPr>
        <p:spPr>
          <a:xfrm>
            <a:off x="894714" y="1507386"/>
            <a:ext cx="2784285" cy="5541113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F10E170D-4B13-DBC3-BD9C-477C1B5C4931}"/>
              </a:ext>
            </a:extLst>
          </p:cNvPr>
          <p:cNvSpPr>
            <a:spLocks/>
          </p:cNvSpPr>
          <p:nvPr/>
        </p:nvSpPr>
        <p:spPr>
          <a:xfrm>
            <a:off x="73914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52B75F05-3557-CB19-1D97-CDF63DB7B2BD}"/>
              </a:ext>
            </a:extLst>
          </p:cNvPr>
          <p:cNvSpPr>
            <a:spLocks/>
          </p:cNvSpPr>
          <p:nvPr/>
        </p:nvSpPr>
        <p:spPr>
          <a:xfrm>
            <a:off x="54102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82C70C21-9E39-3B57-B91D-B97A8A279A21}"/>
              </a:ext>
            </a:extLst>
          </p:cNvPr>
          <p:cNvSpPr>
            <a:spLocks/>
          </p:cNvSpPr>
          <p:nvPr/>
        </p:nvSpPr>
        <p:spPr>
          <a:xfrm>
            <a:off x="11323448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F66FA350-A0FA-BDCF-B94A-A55646A50956}"/>
              </a:ext>
            </a:extLst>
          </p:cNvPr>
          <p:cNvSpPr>
            <a:spLocks/>
          </p:cNvSpPr>
          <p:nvPr/>
        </p:nvSpPr>
        <p:spPr>
          <a:xfrm>
            <a:off x="9358054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55680028-A338-35A0-9A3D-98A4EBFB8A51}"/>
              </a:ext>
            </a:extLst>
          </p:cNvPr>
          <p:cNvSpPr>
            <a:spLocks/>
          </p:cNvSpPr>
          <p:nvPr/>
        </p:nvSpPr>
        <p:spPr>
          <a:xfrm>
            <a:off x="1204672" y="1688100"/>
            <a:ext cx="2160000" cy="216000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ED33E434-B014-088E-A148-C2758F57E756}"/>
              </a:ext>
            </a:extLst>
          </p:cNvPr>
          <p:cNvSpPr>
            <a:spLocks/>
          </p:cNvSpPr>
          <p:nvPr/>
        </p:nvSpPr>
        <p:spPr>
          <a:xfrm>
            <a:off x="133218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80164277-0167-C5EA-3B1D-CA5FB7CF5254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스킬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A5EA835A-9E1F-AEF8-B3F2-DBAE949CF801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408EF4F-4359-EEBF-DF20-9DA43B45E239}"/>
              </a:ext>
            </a:extLst>
          </p:cNvPr>
          <p:cNvSpPr/>
          <p:nvPr/>
        </p:nvSpPr>
        <p:spPr>
          <a:xfrm>
            <a:off x="54864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3C39A5A-5FD8-FEF1-D5AE-DD3436C378CF}"/>
              </a:ext>
            </a:extLst>
          </p:cNvPr>
          <p:cNvSpPr/>
          <p:nvPr/>
        </p:nvSpPr>
        <p:spPr>
          <a:xfrm>
            <a:off x="7467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D0AC52D-6D57-F6AD-C5F9-4BDE13950AD6}"/>
              </a:ext>
            </a:extLst>
          </p:cNvPr>
          <p:cNvSpPr/>
          <p:nvPr/>
        </p:nvSpPr>
        <p:spPr>
          <a:xfrm>
            <a:off x="9435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9A6BD11-DDF7-2F92-F712-8CE8CEC5C987}"/>
              </a:ext>
            </a:extLst>
          </p:cNvPr>
          <p:cNvSpPr/>
          <p:nvPr/>
        </p:nvSpPr>
        <p:spPr>
          <a:xfrm>
            <a:off x="114168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228EE9B-01C1-012C-10EB-328E6BB8CD16}"/>
              </a:ext>
            </a:extLst>
          </p:cNvPr>
          <p:cNvSpPr/>
          <p:nvPr/>
        </p:nvSpPr>
        <p:spPr>
          <a:xfrm>
            <a:off x="133980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4" name="그래픽 13" descr="다이아몬드 단색으로 채워진">
            <a:extLst>
              <a:ext uri="{FF2B5EF4-FFF2-40B4-BE49-F238E27FC236}">
                <a16:creationId xmlns:a16="http://schemas.microsoft.com/office/drawing/2014/main" id="{7DF7F5C7-32B1-C362-5F1D-5B6E306A5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83800" y="3581727"/>
            <a:ext cx="1080000" cy="1080000"/>
          </a:xfrm>
          <a:prstGeom prst="rect">
            <a:avLst/>
          </a:prstGeom>
        </p:spPr>
      </p:pic>
      <p:pic>
        <p:nvPicPr>
          <p:cNvPr id="15" name="그래픽 14" descr="스페이드 세트 단색으로 채워진">
            <a:extLst>
              <a:ext uri="{FF2B5EF4-FFF2-40B4-BE49-F238E27FC236}">
                <a16:creationId xmlns:a16="http://schemas.microsoft.com/office/drawing/2014/main" id="{5DE06203-60EE-0B29-79DB-90C8DE4403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9454" y="3581727"/>
            <a:ext cx="1080000" cy="10800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5ACCE64-8F2D-F070-48C4-9A5849DF9B8E}"/>
              </a:ext>
            </a:extLst>
          </p:cNvPr>
          <p:cNvSpPr txBox="1"/>
          <p:nvPr/>
        </p:nvSpPr>
        <p:spPr>
          <a:xfrm>
            <a:off x="7551165" y="3683540"/>
            <a:ext cx="65594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A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2562E4-C04B-2558-EEF6-BBB50B4929F8}"/>
              </a:ext>
            </a:extLst>
          </p:cNvPr>
          <p:cNvSpPr txBox="1"/>
          <p:nvPr/>
        </p:nvSpPr>
        <p:spPr>
          <a:xfrm>
            <a:off x="5541267" y="3683540"/>
            <a:ext cx="65594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A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A5ED74-F70B-32D9-1202-015F2FB40D88}"/>
              </a:ext>
            </a:extLst>
          </p:cNvPr>
          <p:cNvSpPr txBox="1"/>
          <p:nvPr/>
        </p:nvSpPr>
        <p:spPr>
          <a:xfrm>
            <a:off x="9561062" y="36835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2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3701B8A-ABCF-8B90-43D3-440DF73C0411}"/>
              </a:ext>
            </a:extLst>
          </p:cNvPr>
          <p:cNvSpPr txBox="1"/>
          <p:nvPr/>
        </p:nvSpPr>
        <p:spPr>
          <a:xfrm>
            <a:off x="11540502" y="3683540"/>
            <a:ext cx="65594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A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016A7B-1887-70D9-5545-1AB900D2D94E}"/>
              </a:ext>
            </a:extLst>
          </p:cNvPr>
          <p:cNvSpPr txBox="1"/>
          <p:nvPr/>
        </p:nvSpPr>
        <p:spPr>
          <a:xfrm>
            <a:off x="13550400" y="3683540"/>
            <a:ext cx="60465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2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C3C1A071-7A23-E7C7-431A-1C18C62621E5}"/>
              </a:ext>
            </a:extLst>
          </p:cNvPr>
          <p:cNvSpPr/>
          <p:nvPr/>
        </p:nvSpPr>
        <p:spPr>
          <a:xfrm>
            <a:off x="1905000" y="7195500"/>
            <a:ext cx="14744700" cy="25200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투페어의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경우</a:t>
            </a:r>
            <a:r>
              <a:rPr lang="en-US" altLang="ko-KR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en-US" altLang="ko-KR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Lv.2 </a:t>
            </a:r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스킬 </a:t>
            </a:r>
            <a:r>
              <a:rPr lang="en-US" altLang="ko-KR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2</a:t>
            </a:r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개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를 조합하여 사용</a:t>
            </a:r>
            <a:endParaRPr lang="en-US" altLang="ko-KR" sz="2800" b="1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풀하우스의 경우</a:t>
            </a:r>
            <a:r>
              <a:rPr lang="en-US" altLang="ko-KR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en-US" altLang="ko-KR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Lv.3</a:t>
            </a:r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 스킬 </a:t>
            </a:r>
            <a:r>
              <a:rPr lang="en-US" altLang="ko-KR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1</a:t>
            </a:r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개와 </a:t>
            </a:r>
            <a:r>
              <a:rPr lang="en-US" altLang="ko-KR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Lv.2 </a:t>
            </a:r>
            <a:r>
              <a:rPr lang="ko-KR" altLang="en-US" sz="2800" b="1" dirty="0" err="1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무속성</a:t>
            </a:r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 스킬 </a:t>
            </a:r>
            <a:r>
              <a:rPr lang="en-US" altLang="ko-KR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1</a:t>
            </a:r>
            <a:r>
              <a:rPr lang="ko-KR" altLang="en-US" sz="28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개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를 조합하여 사용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7ACAB2C6-49E1-592E-7DE3-3CE4181B7B7B}"/>
              </a:ext>
            </a:extLst>
          </p:cNvPr>
          <p:cNvSpPr/>
          <p:nvPr/>
        </p:nvSpPr>
        <p:spPr>
          <a:xfrm>
            <a:off x="15420437" y="2705099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1C286DE-D24B-ED11-56E2-E2DD5DFC9B09}"/>
              </a:ext>
            </a:extLst>
          </p:cNvPr>
          <p:cNvSpPr/>
          <p:nvPr/>
        </p:nvSpPr>
        <p:spPr>
          <a:xfrm>
            <a:off x="1548009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1C498CF-1621-EF6A-658E-12E70E9B2FA4}"/>
              </a:ext>
            </a:extLst>
          </p:cNvPr>
          <p:cNvSpPr/>
          <p:nvPr/>
        </p:nvSpPr>
        <p:spPr>
          <a:xfrm>
            <a:off x="1553975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D65718B-5498-2AB5-E34A-324A8F8CCB1F}"/>
              </a:ext>
            </a:extLst>
          </p:cNvPr>
          <p:cNvSpPr/>
          <p:nvPr/>
        </p:nvSpPr>
        <p:spPr>
          <a:xfrm>
            <a:off x="15544800" y="2628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34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3" name="그래픽 2" descr="빛나는 하트 단색으로 채워진">
            <a:extLst>
              <a:ext uri="{FF2B5EF4-FFF2-40B4-BE49-F238E27FC236}">
                <a16:creationId xmlns:a16="http://schemas.microsoft.com/office/drawing/2014/main" id="{8DCD429B-BA00-2DDA-298E-9B6F159FB5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57192" y="3581727"/>
            <a:ext cx="1080000" cy="1080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7B7BFC7-10EB-5E11-F7BE-525F21AF8A5D}"/>
              </a:ext>
            </a:extLst>
          </p:cNvPr>
          <p:cNvSpPr txBox="1"/>
          <p:nvPr/>
        </p:nvSpPr>
        <p:spPr>
          <a:xfrm>
            <a:off x="1899276" y="3361398"/>
            <a:ext cx="9203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Pretendard Bold" panose="020B0600000101010101" charset="-127"/>
                <a:ea typeface="Pretendard Bold" panose="020B0600000101010101" charset="-127"/>
              </a:rPr>
              <a:t>번개 </a:t>
            </a:r>
            <a:r>
              <a:rPr lang="en-US" altLang="ko-KR" sz="1400" dirty="0">
                <a:latin typeface="Pretendard Bold" panose="020B0600000101010101" charset="-127"/>
                <a:ea typeface="Pretendard Bold" panose="020B0600000101010101" charset="-127"/>
              </a:rPr>
              <a:t>Lv.3</a:t>
            </a:r>
            <a:endParaRPr lang="ko-KR" altLang="en-US" sz="1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070BA986-B477-19BD-77F5-F8B85D715FDD}"/>
              </a:ext>
            </a:extLst>
          </p:cNvPr>
          <p:cNvSpPr/>
          <p:nvPr/>
        </p:nvSpPr>
        <p:spPr>
          <a:xfrm rot="10800000">
            <a:off x="3988958" y="3978984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BE78E3-DE87-5C16-3563-9294DD70174D}"/>
              </a:ext>
            </a:extLst>
          </p:cNvPr>
          <p:cNvSpPr txBox="1"/>
          <p:nvPr/>
        </p:nvSpPr>
        <p:spPr>
          <a:xfrm rot="21114913">
            <a:off x="4778080" y="2152388"/>
            <a:ext cx="152638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Pretendard Bold" panose="020B0600000101010101" charset="-127"/>
                <a:ea typeface="Pretendard Bold" panose="020B0600000101010101" charset="-127"/>
              </a:rPr>
              <a:t>Full House!</a:t>
            </a:r>
            <a:endParaRPr lang="ko-KR" altLang="en-US" sz="2000" dirty="0">
              <a:solidFill>
                <a:schemeClr val="accent5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19" name="그래픽 18" descr="다이아몬드 단색으로 채워진">
            <a:extLst>
              <a:ext uri="{FF2B5EF4-FFF2-40B4-BE49-F238E27FC236}">
                <a16:creationId xmlns:a16="http://schemas.microsoft.com/office/drawing/2014/main" id="{65FD1CB0-5211-3C0D-EB12-859CC69250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89400" y="3581727"/>
            <a:ext cx="1080000" cy="1080000"/>
          </a:xfrm>
          <a:prstGeom prst="rect">
            <a:avLst/>
          </a:prstGeom>
        </p:spPr>
      </p:pic>
      <p:sp>
        <p:nvSpPr>
          <p:cNvPr id="38" name="타원 37">
            <a:extLst>
              <a:ext uri="{FF2B5EF4-FFF2-40B4-BE49-F238E27FC236}">
                <a16:creationId xmlns:a16="http://schemas.microsoft.com/office/drawing/2014/main" id="{D44F0EB2-82B4-153A-943F-4F77E13C0D70}"/>
              </a:ext>
            </a:extLst>
          </p:cNvPr>
          <p:cNvSpPr>
            <a:spLocks/>
          </p:cNvSpPr>
          <p:nvPr/>
        </p:nvSpPr>
        <p:spPr>
          <a:xfrm>
            <a:off x="1204663" y="4659900"/>
            <a:ext cx="2160000" cy="216000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F12F2A-4C0B-C808-5559-1B2C9F7079C2}"/>
              </a:ext>
            </a:extLst>
          </p:cNvPr>
          <p:cNvSpPr txBox="1"/>
          <p:nvPr/>
        </p:nvSpPr>
        <p:spPr>
          <a:xfrm>
            <a:off x="1817384" y="6332159"/>
            <a:ext cx="12012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Pretendard Bold" panose="020B0600000101010101" charset="-127"/>
                <a:ea typeface="Pretendard Bold" panose="020B0600000101010101" charset="-127"/>
              </a:rPr>
              <a:t>소닉붐</a:t>
            </a:r>
            <a:r>
              <a:rPr lang="ko-KR" altLang="en-US" sz="1400" dirty="0">
                <a:latin typeface="Pretendard Bold" panose="020B0600000101010101" charset="-127"/>
                <a:ea typeface="Pretendard Bold" panose="020B0600000101010101" charset="-127"/>
              </a:rPr>
              <a:t>  </a:t>
            </a:r>
            <a:r>
              <a:rPr lang="en-US" altLang="ko-KR" sz="1400" dirty="0">
                <a:latin typeface="Pretendard Bold" panose="020B0600000101010101" charset="-127"/>
                <a:ea typeface="Pretendard Bold" panose="020B0600000101010101" charset="-127"/>
              </a:rPr>
              <a:t>Lv.2</a:t>
            </a:r>
            <a:endParaRPr lang="ko-KR" altLang="en-US" sz="1400" dirty="0"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CE4E4C94-7FAC-0A90-5A20-A69F8AE2A76B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dirty="0" err="1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투페어</a:t>
            </a:r>
            <a:r>
              <a:rPr lang="ko-KR" altLang="en-US" sz="24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24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24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풀하우스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5" name="그래픽 4" descr="스페이드 세트 단색으로 채워진">
            <a:extLst>
              <a:ext uri="{FF2B5EF4-FFF2-40B4-BE49-F238E27FC236}">
                <a16:creationId xmlns:a16="http://schemas.microsoft.com/office/drawing/2014/main" id="{2E67EA5F-FDC4-026F-EB1E-7190FD61F0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4740" y="3581727"/>
            <a:ext cx="1080000" cy="1080000"/>
          </a:xfrm>
          <a:prstGeom prst="rect">
            <a:avLst/>
          </a:prstGeom>
        </p:spPr>
      </p:pic>
      <p:pic>
        <p:nvPicPr>
          <p:cNvPr id="41" name="그래픽 40" descr="빛나는 하트 단색으로 채워진">
            <a:extLst>
              <a:ext uri="{FF2B5EF4-FFF2-40B4-BE49-F238E27FC236}">
                <a16:creationId xmlns:a16="http://schemas.microsoft.com/office/drawing/2014/main" id="{7D2F99E3-79C8-4EBE-EE18-F51D975033A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51272" y="1932747"/>
            <a:ext cx="1080000" cy="1080000"/>
          </a:xfrm>
          <a:prstGeom prst="rect">
            <a:avLst/>
          </a:prstGeom>
        </p:spPr>
      </p:pic>
      <p:sp>
        <p:nvSpPr>
          <p:cNvPr id="42" name="번개 41">
            <a:extLst>
              <a:ext uri="{FF2B5EF4-FFF2-40B4-BE49-F238E27FC236}">
                <a16:creationId xmlns:a16="http://schemas.microsoft.com/office/drawing/2014/main" id="{186FD4B5-7A3C-CE8A-8D9D-CCC03A4ACA3B}"/>
              </a:ext>
            </a:extLst>
          </p:cNvPr>
          <p:cNvSpPr/>
          <p:nvPr/>
        </p:nvSpPr>
        <p:spPr>
          <a:xfrm rot="532728">
            <a:off x="1928289" y="2232167"/>
            <a:ext cx="678453" cy="691323"/>
          </a:xfrm>
          <a:prstGeom prst="lightningBol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번개 50">
            <a:extLst>
              <a:ext uri="{FF2B5EF4-FFF2-40B4-BE49-F238E27FC236}">
                <a16:creationId xmlns:a16="http://schemas.microsoft.com/office/drawing/2014/main" id="{0228CC82-F89A-78DD-7DB9-07B834FE1CF0}"/>
              </a:ext>
            </a:extLst>
          </p:cNvPr>
          <p:cNvSpPr/>
          <p:nvPr/>
        </p:nvSpPr>
        <p:spPr>
          <a:xfrm rot="532728">
            <a:off x="2474700" y="2312723"/>
            <a:ext cx="464172" cy="493940"/>
          </a:xfrm>
          <a:prstGeom prst="lightningBol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번개 51">
            <a:extLst>
              <a:ext uri="{FF2B5EF4-FFF2-40B4-BE49-F238E27FC236}">
                <a16:creationId xmlns:a16="http://schemas.microsoft.com/office/drawing/2014/main" id="{7A9784DD-2B70-6D55-644E-3FD184CFEB9B}"/>
              </a:ext>
            </a:extLst>
          </p:cNvPr>
          <p:cNvSpPr/>
          <p:nvPr/>
        </p:nvSpPr>
        <p:spPr>
          <a:xfrm rot="532728">
            <a:off x="1598864" y="2428440"/>
            <a:ext cx="395081" cy="447446"/>
          </a:xfrm>
          <a:prstGeom prst="lightningBol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달 52">
            <a:extLst>
              <a:ext uri="{FF2B5EF4-FFF2-40B4-BE49-F238E27FC236}">
                <a16:creationId xmlns:a16="http://schemas.microsoft.com/office/drawing/2014/main" id="{2B1E3807-6AEB-45D7-2673-B0183B276A66}"/>
              </a:ext>
            </a:extLst>
          </p:cNvPr>
          <p:cNvSpPr/>
          <p:nvPr/>
        </p:nvSpPr>
        <p:spPr>
          <a:xfrm rot="8918203">
            <a:off x="2310046" y="4925216"/>
            <a:ext cx="457200" cy="914400"/>
          </a:xfrm>
          <a:prstGeom prst="mo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달 53">
            <a:extLst>
              <a:ext uri="{FF2B5EF4-FFF2-40B4-BE49-F238E27FC236}">
                <a16:creationId xmlns:a16="http://schemas.microsoft.com/office/drawing/2014/main" id="{57B309E1-DBE8-E304-55C7-99BAFA6AA42B}"/>
              </a:ext>
            </a:extLst>
          </p:cNvPr>
          <p:cNvSpPr>
            <a:spLocks noChangeAspect="1"/>
          </p:cNvSpPr>
          <p:nvPr/>
        </p:nvSpPr>
        <p:spPr>
          <a:xfrm rot="8918203">
            <a:off x="2125142" y="5208349"/>
            <a:ext cx="336167" cy="632089"/>
          </a:xfrm>
          <a:prstGeom prst="mo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달 54">
            <a:extLst>
              <a:ext uri="{FF2B5EF4-FFF2-40B4-BE49-F238E27FC236}">
                <a16:creationId xmlns:a16="http://schemas.microsoft.com/office/drawing/2014/main" id="{F914158E-576E-A494-66CB-1E94B942EBAD}"/>
              </a:ext>
            </a:extLst>
          </p:cNvPr>
          <p:cNvSpPr/>
          <p:nvPr/>
        </p:nvSpPr>
        <p:spPr>
          <a:xfrm rot="8918203">
            <a:off x="1984653" y="5410996"/>
            <a:ext cx="189779" cy="496883"/>
          </a:xfrm>
          <a:prstGeom prst="mo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달 55">
            <a:extLst>
              <a:ext uri="{FF2B5EF4-FFF2-40B4-BE49-F238E27FC236}">
                <a16:creationId xmlns:a16="http://schemas.microsoft.com/office/drawing/2014/main" id="{9961AEE6-A901-1763-E463-6097DF3C4688}"/>
              </a:ext>
            </a:extLst>
          </p:cNvPr>
          <p:cNvSpPr/>
          <p:nvPr/>
        </p:nvSpPr>
        <p:spPr>
          <a:xfrm rot="8918203">
            <a:off x="1839052" y="5596938"/>
            <a:ext cx="128472" cy="368258"/>
          </a:xfrm>
          <a:prstGeom prst="moon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더하기 기호 56">
            <a:extLst>
              <a:ext uri="{FF2B5EF4-FFF2-40B4-BE49-F238E27FC236}">
                <a16:creationId xmlns:a16="http://schemas.microsoft.com/office/drawing/2014/main" id="{7B3D2260-FC43-35A0-85C7-AC3F9C0784D5}"/>
              </a:ext>
            </a:extLst>
          </p:cNvPr>
          <p:cNvSpPr/>
          <p:nvPr/>
        </p:nvSpPr>
        <p:spPr>
          <a:xfrm>
            <a:off x="1901016" y="3848100"/>
            <a:ext cx="767293" cy="786132"/>
          </a:xfrm>
          <a:prstGeom prst="mathPlus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253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C377-89E4-8AAF-DEEB-11E48DEE2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0E7259E5-4A48-9389-0DC3-537C5CE366A8}"/>
              </a:ext>
            </a:extLst>
          </p:cNvPr>
          <p:cNvSpPr>
            <a:spLocks/>
          </p:cNvSpPr>
          <p:nvPr/>
        </p:nvSpPr>
        <p:spPr>
          <a:xfrm>
            <a:off x="73914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E1816879-F0C0-A51F-C81E-9C4353A37CD2}"/>
              </a:ext>
            </a:extLst>
          </p:cNvPr>
          <p:cNvSpPr>
            <a:spLocks/>
          </p:cNvSpPr>
          <p:nvPr/>
        </p:nvSpPr>
        <p:spPr>
          <a:xfrm>
            <a:off x="54102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28B7E834-D9D2-8262-F095-715F9318DCF6}"/>
              </a:ext>
            </a:extLst>
          </p:cNvPr>
          <p:cNvSpPr>
            <a:spLocks/>
          </p:cNvSpPr>
          <p:nvPr/>
        </p:nvSpPr>
        <p:spPr>
          <a:xfrm>
            <a:off x="11323448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EB974040-F64E-B2F5-56AF-D25D623031D5}"/>
              </a:ext>
            </a:extLst>
          </p:cNvPr>
          <p:cNvSpPr>
            <a:spLocks/>
          </p:cNvSpPr>
          <p:nvPr/>
        </p:nvSpPr>
        <p:spPr>
          <a:xfrm>
            <a:off x="9358054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841A42F1-C918-EB76-C910-1CA581864FB3}"/>
              </a:ext>
            </a:extLst>
          </p:cNvPr>
          <p:cNvSpPr>
            <a:spLocks/>
          </p:cNvSpPr>
          <p:nvPr/>
        </p:nvSpPr>
        <p:spPr>
          <a:xfrm>
            <a:off x="133218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0EEE7D4A-46AB-9C93-07BD-65771813AF8F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스킬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3997AF3-101B-8EE2-967B-6D8FF24C950F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A4F92B8-E0C8-EDAA-C780-F3C86C0F743D}"/>
              </a:ext>
            </a:extLst>
          </p:cNvPr>
          <p:cNvSpPr/>
          <p:nvPr/>
        </p:nvSpPr>
        <p:spPr>
          <a:xfrm>
            <a:off x="54864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B8C8EE0-9266-9655-4B88-4D428C053AC0}"/>
              </a:ext>
            </a:extLst>
          </p:cNvPr>
          <p:cNvSpPr/>
          <p:nvPr/>
        </p:nvSpPr>
        <p:spPr>
          <a:xfrm>
            <a:off x="7467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1A58B86-C55E-1B4D-4F37-B9BEE87A52BA}"/>
              </a:ext>
            </a:extLst>
          </p:cNvPr>
          <p:cNvSpPr/>
          <p:nvPr/>
        </p:nvSpPr>
        <p:spPr>
          <a:xfrm>
            <a:off x="9435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03B03A9-7B03-16B5-D590-17AFCA27C2AB}"/>
              </a:ext>
            </a:extLst>
          </p:cNvPr>
          <p:cNvSpPr/>
          <p:nvPr/>
        </p:nvSpPr>
        <p:spPr>
          <a:xfrm>
            <a:off x="114168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C2E10CD1-9D83-A3C2-3529-CE2408697B54}"/>
              </a:ext>
            </a:extLst>
          </p:cNvPr>
          <p:cNvSpPr/>
          <p:nvPr/>
        </p:nvSpPr>
        <p:spPr>
          <a:xfrm>
            <a:off x="133980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3C714A8-9510-45FD-D8C3-E74D85F6B35B}"/>
              </a:ext>
            </a:extLst>
          </p:cNvPr>
          <p:cNvSpPr txBox="1"/>
          <p:nvPr/>
        </p:nvSpPr>
        <p:spPr>
          <a:xfrm>
            <a:off x="7551165" y="3683540"/>
            <a:ext cx="633507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K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45815F-AAD8-2890-71D1-15591FBF91D2}"/>
              </a:ext>
            </a:extLst>
          </p:cNvPr>
          <p:cNvSpPr txBox="1"/>
          <p:nvPr/>
        </p:nvSpPr>
        <p:spPr>
          <a:xfrm>
            <a:off x="5541267" y="36835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6528AF-DADD-6551-9292-65F7C3F8166D}"/>
              </a:ext>
            </a:extLst>
          </p:cNvPr>
          <p:cNvSpPr txBox="1"/>
          <p:nvPr/>
        </p:nvSpPr>
        <p:spPr>
          <a:xfrm>
            <a:off x="9561062" y="36835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5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067E45-DC6F-8D8E-50A1-94DDDA07FFC5}"/>
              </a:ext>
            </a:extLst>
          </p:cNvPr>
          <p:cNvSpPr txBox="1"/>
          <p:nvPr/>
        </p:nvSpPr>
        <p:spPr>
          <a:xfrm>
            <a:off x="11540502" y="3683540"/>
            <a:ext cx="554960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J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AFA280-D13A-C7BE-F21F-429FE4FCEBA6}"/>
              </a:ext>
            </a:extLst>
          </p:cNvPr>
          <p:cNvSpPr txBox="1"/>
          <p:nvPr/>
        </p:nvSpPr>
        <p:spPr>
          <a:xfrm>
            <a:off x="13550400" y="3683540"/>
            <a:ext cx="620683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8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BBBB75D2-F1C4-FC43-F736-0A361B000924}"/>
              </a:ext>
            </a:extLst>
          </p:cNvPr>
          <p:cNvSpPr/>
          <p:nvPr/>
        </p:nvSpPr>
        <p:spPr>
          <a:xfrm>
            <a:off x="1905000" y="7195500"/>
            <a:ext cx="14744700" cy="25200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해당 문양의 </a:t>
            </a:r>
            <a:r>
              <a:rPr lang="en-US" altLang="ko-KR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Lv.3 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스킬을 사용하며</a:t>
            </a:r>
            <a:r>
              <a:rPr lang="en-US" altLang="ko-KR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추가 데미지 </a:t>
            </a:r>
            <a:r>
              <a:rPr lang="en-US" altLang="ko-KR" sz="2800" b="1" dirty="0">
                <a:solidFill>
                  <a:srgbClr val="F28830"/>
                </a:solidFill>
                <a:latin typeface="Pretendard Medium" panose="020B0600000101010101" charset="-127"/>
                <a:ea typeface="Pretendard Medium" panose="020B0600000101010101" charset="-127"/>
              </a:rPr>
              <a:t>20%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를</a:t>
            </a:r>
            <a:r>
              <a:rPr lang="en-US" altLang="ko-KR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더 넣는다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BF2A6F3-1113-4504-5204-AFB4AC795444}"/>
              </a:ext>
            </a:extLst>
          </p:cNvPr>
          <p:cNvSpPr/>
          <p:nvPr/>
        </p:nvSpPr>
        <p:spPr>
          <a:xfrm>
            <a:off x="15420437" y="2705099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3F6FC49-1ED1-DFBC-CF9F-C044FA2FCE8E}"/>
              </a:ext>
            </a:extLst>
          </p:cNvPr>
          <p:cNvSpPr/>
          <p:nvPr/>
        </p:nvSpPr>
        <p:spPr>
          <a:xfrm>
            <a:off x="1548009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CF95CC3A-FBB9-CEB4-9E8C-014F26AE3C5D}"/>
              </a:ext>
            </a:extLst>
          </p:cNvPr>
          <p:cNvSpPr/>
          <p:nvPr/>
        </p:nvSpPr>
        <p:spPr>
          <a:xfrm>
            <a:off x="1553975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73EF3EC9-2D18-ACAE-0240-D1F6E78836F4}"/>
              </a:ext>
            </a:extLst>
          </p:cNvPr>
          <p:cNvSpPr/>
          <p:nvPr/>
        </p:nvSpPr>
        <p:spPr>
          <a:xfrm>
            <a:off x="15544800" y="2628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29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3" name="그래픽 2" descr="빛나는 하트 단색으로 채워진">
            <a:extLst>
              <a:ext uri="{FF2B5EF4-FFF2-40B4-BE49-F238E27FC236}">
                <a16:creationId xmlns:a16="http://schemas.microsoft.com/office/drawing/2014/main" id="{B217F469-28AB-CBE6-C750-4275FA40F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57192" y="3669175"/>
            <a:ext cx="1080000" cy="1080000"/>
          </a:xfrm>
          <a:prstGeom prst="rect">
            <a:avLst/>
          </a:prstGeom>
        </p:spPr>
      </p:pic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BE7AADCB-95C5-5F29-C4A3-672520160C38}"/>
              </a:ext>
            </a:extLst>
          </p:cNvPr>
          <p:cNvSpPr/>
          <p:nvPr/>
        </p:nvSpPr>
        <p:spPr>
          <a:xfrm rot="10800000">
            <a:off x="3988958" y="3978984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3B2C01-2FDB-F0EB-4DB7-58CEB8B33846}"/>
              </a:ext>
            </a:extLst>
          </p:cNvPr>
          <p:cNvSpPr txBox="1"/>
          <p:nvPr/>
        </p:nvSpPr>
        <p:spPr>
          <a:xfrm rot="21114913">
            <a:off x="5081850" y="2152388"/>
            <a:ext cx="9188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Pretendard Bold" panose="020B0600000101010101" charset="-127"/>
                <a:ea typeface="Pretendard Bold" panose="020B0600000101010101" charset="-127"/>
              </a:rPr>
              <a:t>Flush!</a:t>
            </a:r>
            <a:endParaRPr lang="ko-KR" altLang="en-US" sz="2000" dirty="0">
              <a:solidFill>
                <a:schemeClr val="accent5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8637FF50-0480-E308-F466-8D385E21A8F6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플러시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7" name="그래픽 6" descr="빛나는 하트 단색으로 채워진">
            <a:extLst>
              <a:ext uri="{FF2B5EF4-FFF2-40B4-BE49-F238E27FC236}">
                <a16:creationId xmlns:a16="http://schemas.microsoft.com/office/drawing/2014/main" id="{D4D82AD0-D330-9BF5-43EB-347F57F76A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55183" y="3669175"/>
            <a:ext cx="1080000" cy="1080000"/>
          </a:xfrm>
          <a:prstGeom prst="rect">
            <a:avLst/>
          </a:prstGeom>
        </p:spPr>
      </p:pic>
      <p:pic>
        <p:nvPicPr>
          <p:cNvPr id="13" name="그래픽 12" descr="빛나는 하트 단색으로 채워진">
            <a:extLst>
              <a:ext uri="{FF2B5EF4-FFF2-40B4-BE49-F238E27FC236}">
                <a16:creationId xmlns:a16="http://schemas.microsoft.com/office/drawing/2014/main" id="{01B0717C-8857-86C0-10B2-2EE7385EB2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3174" y="3669175"/>
            <a:ext cx="1080000" cy="1080000"/>
          </a:xfrm>
          <a:prstGeom prst="rect">
            <a:avLst/>
          </a:prstGeom>
        </p:spPr>
      </p:pic>
      <p:pic>
        <p:nvPicPr>
          <p:cNvPr id="16" name="그래픽 15" descr="빛나는 하트 단색으로 채워진">
            <a:extLst>
              <a:ext uri="{FF2B5EF4-FFF2-40B4-BE49-F238E27FC236}">
                <a16:creationId xmlns:a16="http://schemas.microsoft.com/office/drawing/2014/main" id="{36FC79FA-AFB2-6493-E99E-31413E1C5D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1165" y="3669175"/>
            <a:ext cx="1080000" cy="1080000"/>
          </a:xfrm>
          <a:prstGeom prst="rect">
            <a:avLst/>
          </a:prstGeom>
        </p:spPr>
      </p:pic>
      <p:pic>
        <p:nvPicPr>
          <p:cNvPr id="18" name="그래픽 17" descr="빛나는 하트 단색으로 채워진">
            <a:extLst>
              <a:ext uri="{FF2B5EF4-FFF2-40B4-BE49-F238E27FC236}">
                <a16:creationId xmlns:a16="http://schemas.microsoft.com/office/drawing/2014/main" id="{6467B303-5839-B787-6D05-3C87C7E90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049156" y="3669175"/>
            <a:ext cx="1080000" cy="1080000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FC6AB973-18DA-105E-D600-56E9232CD2C0}"/>
              </a:ext>
            </a:extLst>
          </p:cNvPr>
          <p:cNvSpPr>
            <a:spLocks/>
          </p:cNvSpPr>
          <p:nvPr/>
        </p:nvSpPr>
        <p:spPr>
          <a:xfrm>
            <a:off x="723900" y="2781300"/>
            <a:ext cx="2880000" cy="288000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E5B1CD-4D33-6D75-073C-04D3CF0E09F9}"/>
              </a:ext>
            </a:extLst>
          </p:cNvPr>
          <p:cNvSpPr txBox="1"/>
          <p:nvPr/>
        </p:nvSpPr>
        <p:spPr>
          <a:xfrm>
            <a:off x="1513575" y="4820334"/>
            <a:ext cx="138050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Pretendard Bold" panose="020B0600000101010101" charset="-127"/>
                <a:ea typeface="Pretendard Bold" panose="020B0600000101010101" charset="-127"/>
              </a:rPr>
              <a:t>번개 </a:t>
            </a:r>
            <a:r>
              <a:rPr lang="en-US" altLang="ko-KR" sz="2000" dirty="0">
                <a:latin typeface="Pretendard Bold" panose="020B0600000101010101" charset="-127"/>
                <a:ea typeface="Pretendard Bold" panose="020B0600000101010101" charset="-127"/>
              </a:rPr>
              <a:t>Lv.3</a:t>
            </a:r>
          </a:p>
          <a:p>
            <a:pPr algn="ctr"/>
            <a:r>
              <a:rPr lang="ko-KR" altLang="en-US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추가데미지</a:t>
            </a:r>
            <a:r>
              <a:rPr lang="ko-KR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Bold" panose="020B0600000101010101" charset="-127"/>
                <a:ea typeface="Pretendard Bold" panose="020B0600000101010101" charset="-127"/>
              </a:rPr>
              <a:t>20%</a:t>
            </a:r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pic>
        <p:nvPicPr>
          <p:cNvPr id="66" name="그래픽 65" descr="빛나는 하트 단색으로 채워진">
            <a:extLst>
              <a:ext uri="{FF2B5EF4-FFF2-40B4-BE49-F238E27FC236}">
                <a16:creationId xmlns:a16="http://schemas.microsoft.com/office/drawing/2014/main" id="{E268513D-8C89-65BB-EA2B-C59F258056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23900" y="3438984"/>
            <a:ext cx="1080000" cy="1080000"/>
          </a:xfrm>
          <a:prstGeom prst="rect">
            <a:avLst/>
          </a:prstGeom>
        </p:spPr>
      </p:pic>
      <p:sp>
        <p:nvSpPr>
          <p:cNvPr id="67" name="번개 66">
            <a:extLst>
              <a:ext uri="{FF2B5EF4-FFF2-40B4-BE49-F238E27FC236}">
                <a16:creationId xmlns:a16="http://schemas.microsoft.com/office/drawing/2014/main" id="{7C5D5407-9E8A-B7EC-B6DA-44572307B79C}"/>
              </a:ext>
            </a:extLst>
          </p:cNvPr>
          <p:cNvSpPr/>
          <p:nvPr/>
        </p:nvSpPr>
        <p:spPr>
          <a:xfrm rot="1214335">
            <a:off x="1706700" y="3474651"/>
            <a:ext cx="914400" cy="914400"/>
          </a:xfrm>
          <a:prstGeom prst="lightningBol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번개 67">
            <a:extLst>
              <a:ext uri="{FF2B5EF4-FFF2-40B4-BE49-F238E27FC236}">
                <a16:creationId xmlns:a16="http://schemas.microsoft.com/office/drawing/2014/main" id="{1F7474E9-9C86-F10F-F225-5CC664B57228}"/>
              </a:ext>
            </a:extLst>
          </p:cNvPr>
          <p:cNvSpPr/>
          <p:nvPr/>
        </p:nvSpPr>
        <p:spPr>
          <a:xfrm rot="1214335">
            <a:off x="1226672" y="3675560"/>
            <a:ext cx="728555" cy="719437"/>
          </a:xfrm>
          <a:prstGeom prst="lightningBol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번개 68">
            <a:extLst>
              <a:ext uri="{FF2B5EF4-FFF2-40B4-BE49-F238E27FC236}">
                <a16:creationId xmlns:a16="http://schemas.microsoft.com/office/drawing/2014/main" id="{A3EAAE2B-3F36-9406-2306-728E83AA3515}"/>
              </a:ext>
            </a:extLst>
          </p:cNvPr>
          <p:cNvSpPr/>
          <p:nvPr/>
        </p:nvSpPr>
        <p:spPr>
          <a:xfrm rot="1214335">
            <a:off x="2463761" y="3647107"/>
            <a:ext cx="728555" cy="719437"/>
          </a:xfrm>
          <a:prstGeom prst="lightningBolt">
            <a:avLst/>
          </a:prstGeom>
          <a:noFill/>
          <a:ln w="5715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02647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131C6-25F9-FE2B-30DC-64ACB6D3C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46BB4FDF-0343-56AE-F6A5-84B5B5F2F85D}"/>
              </a:ext>
            </a:extLst>
          </p:cNvPr>
          <p:cNvSpPr>
            <a:spLocks/>
          </p:cNvSpPr>
          <p:nvPr/>
        </p:nvSpPr>
        <p:spPr>
          <a:xfrm>
            <a:off x="73914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62FA695A-2B06-2D80-651C-74A75F3614E2}"/>
              </a:ext>
            </a:extLst>
          </p:cNvPr>
          <p:cNvSpPr>
            <a:spLocks/>
          </p:cNvSpPr>
          <p:nvPr/>
        </p:nvSpPr>
        <p:spPr>
          <a:xfrm>
            <a:off x="54102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0FD07EEA-C464-A075-4836-929D486F0E3F}"/>
              </a:ext>
            </a:extLst>
          </p:cNvPr>
          <p:cNvSpPr>
            <a:spLocks/>
          </p:cNvSpPr>
          <p:nvPr/>
        </p:nvSpPr>
        <p:spPr>
          <a:xfrm>
            <a:off x="11323448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4CB8F62D-6431-E6DF-7093-6DBA3603B6B7}"/>
              </a:ext>
            </a:extLst>
          </p:cNvPr>
          <p:cNvSpPr>
            <a:spLocks/>
          </p:cNvSpPr>
          <p:nvPr/>
        </p:nvSpPr>
        <p:spPr>
          <a:xfrm>
            <a:off x="9358054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0AE5ED1-07CB-B918-B60C-719E936CDBD0}"/>
              </a:ext>
            </a:extLst>
          </p:cNvPr>
          <p:cNvSpPr>
            <a:spLocks/>
          </p:cNvSpPr>
          <p:nvPr/>
        </p:nvSpPr>
        <p:spPr>
          <a:xfrm>
            <a:off x="13321800" y="2642755"/>
            <a:ext cx="1908000" cy="3060000"/>
          </a:xfrm>
          <a:prstGeom prst="roundRect">
            <a:avLst>
              <a:gd name="adj" fmla="val 5015"/>
            </a:avLst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23">
            <a:extLst>
              <a:ext uri="{FF2B5EF4-FFF2-40B4-BE49-F238E27FC236}">
                <a16:creationId xmlns:a16="http://schemas.microsoft.com/office/drawing/2014/main" id="{833BCB6C-AD07-DF10-82A3-01DE7233CCAB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스킬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58D3A55-3FDB-3198-4770-53F28E47EFA4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CEBD39B-CBBC-B944-E4B4-8DFAD371DAF7}"/>
              </a:ext>
            </a:extLst>
          </p:cNvPr>
          <p:cNvSpPr/>
          <p:nvPr/>
        </p:nvSpPr>
        <p:spPr>
          <a:xfrm>
            <a:off x="54864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71BF191-6436-0CC9-0D8F-5B4EBBD0416D}"/>
              </a:ext>
            </a:extLst>
          </p:cNvPr>
          <p:cNvSpPr/>
          <p:nvPr/>
        </p:nvSpPr>
        <p:spPr>
          <a:xfrm>
            <a:off x="7467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E364ED1A-2C1F-C6FD-ECD0-9421F9608C59}"/>
              </a:ext>
            </a:extLst>
          </p:cNvPr>
          <p:cNvSpPr/>
          <p:nvPr/>
        </p:nvSpPr>
        <p:spPr>
          <a:xfrm>
            <a:off x="94356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CDDA208-7C54-E186-0AB9-E8BCA82C7E70}"/>
              </a:ext>
            </a:extLst>
          </p:cNvPr>
          <p:cNvSpPr/>
          <p:nvPr/>
        </p:nvSpPr>
        <p:spPr>
          <a:xfrm>
            <a:off x="114168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A751DC8F-23C9-4067-892E-88B3D28314A4}"/>
              </a:ext>
            </a:extLst>
          </p:cNvPr>
          <p:cNvSpPr/>
          <p:nvPr/>
        </p:nvSpPr>
        <p:spPr>
          <a:xfrm>
            <a:off x="13398000" y="2705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55CADC-5979-83C9-199D-227FF9671BD0}"/>
              </a:ext>
            </a:extLst>
          </p:cNvPr>
          <p:cNvSpPr txBox="1"/>
          <p:nvPr/>
        </p:nvSpPr>
        <p:spPr>
          <a:xfrm>
            <a:off x="7551165" y="36835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8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E9C29E-46D9-7E86-6C76-7BB3B5C3EC50}"/>
              </a:ext>
            </a:extLst>
          </p:cNvPr>
          <p:cNvSpPr txBox="1"/>
          <p:nvPr/>
        </p:nvSpPr>
        <p:spPr>
          <a:xfrm>
            <a:off x="5541267" y="3683540"/>
            <a:ext cx="625492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9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29FD2-6461-4F84-E79D-AA6B5D9F9068}"/>
              </a:ext>
            </a:extLst>
          </p:cNvPr>
          <p:cNvSpPr txBox="1"/>
          <p:nvPr/>
        </p:nvSpPr>
        <p:spPr>
          <a:xfrm>
            <a:off x="9561062" y="36835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6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E00E4C-B372-FEB8-552A-5365E80BD531}"/>
              </a:ext>
            </a:extLst>
          </p:cNvPr>
          <p:cNvSpPr txBox="1"/>
          <p:nvPr/>
        </p:nvSpPr>
        <p:spPr>
          <a:xfrm>
            <a:off x="11540502" y="3683540"/>
            <a:ext cx="57900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7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2CFF604-61F4-7E97-67C6-AA2B01AD2DC4}"/>
              </a:ext>
            </a:extLst>
          </p:cNvPr>
          <p:cNvSpPr txBox="1"/>
          <p:nvPr/>
        </p:nvSpPr>
        <p:spPr>
          <a:xfrm>
            <a:off x="13335000" y="3683540"/>
            <a:ext cx="936475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solidFill>
                  <a:srgbClr val="FF0000"/>
                </a:solidFill>
                <a:latin typeface="Pretendard Medium" panose="020B0600000101010101" charset="-127"/>
                <a:ea typeface="Pretendard Medium" panose="020B0600000101010101" charset="-127"/>
              </a:rPr>
              <a:t>10</a:t>
            </a:r>
            <a:endParaRPr lang="ko-KR" altLang="en-US" sz="5500" dirty="0">
              <a:solidFill>
                <a:srgbClr val="FF0000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FBEB3C3-F073-2573-A816-B37AEFC91164}"/>
              </a:ext>
            </a:extLst>
          </p:cNvPr>
          <p:cNvSpPr/>
          <p:nvPr/>
        </p:nvSpPr>
        <p:spPr>
          <a:xfrm>
            <a:off x="1905000" y="7195500"/>
            <a:ext cx="14744700" cy="25200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광역으로 높은 데미지를 주는 스킬을 사용한다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2F699D44-9379-C7D9-6B64-D91F393DA474}"/>
              </a:ext>
            </a:extLst>
          </p:cNvPr>
          <p:cNvSpPr/>
          <p:nvPr/>
        </p:nvSpPr>
        <p:spPr>
          <a:xfrm>
            <a:off x="15420437" y="2705099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11492ACD-119B-443E-1EC5-37E7D1CDA71D}"/>
              </a:ext>
            </a:extLst>
          </p:cNvPr>
          <p:cNvSpPr/>
          <p:nvPr/>
        </p:nvSpPr>
        <p:spPr>
          <a:xfrm>
            <a:off x="1548009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159D60DF-850D-6B89-2B49-40C76CD523E9}"/>
              </a:ext>
            </a:extLst>
          </p:cNvPr>
          <p:cNvSpPr/>
          <p:nvPr/>
        </p:nvSpPr>
        <p:spPr>
          <a:xfrm>
            <a:off x="15539757" y="2673927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36502D8B-77D0-3887-B56E-251EA52F2737}"/>
              </a:ext>
            </a:extLst>
          </p:cNvPr>
          <p:cNvSpPr/>
          <p:nvPr/>
        </p:nvSpPr>
        <p:spPr>
          <a:xfrm>
            <a:off x="15544800" y="26289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55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24</a:t>
            </a:r>
            <a:endParaRPr lang="ko-KR" altLang="en-US" sz="55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5" name="화살표: 오른쪽 34">
            <a:extLst>
              <a:ext uri="{FF2B5EF4-FFF2-40B4-BE49-F238E27FC236}">
                <a16:creationId xmlns:a16="http://schemas.microsoft.com/office/drawing/2014/main" id="{310D9F59-EA56-DDCC-EC7A-2A3CA7346956}"/>
              </a:ext>
            </a:extLst>
          </p:cNvPr>
          <p:cNvSpPr/>
          <p:nvPr/>
        </p:nvSpPr>
        <p:spPr>
          <a:xfrm rot="10800000">
            <a:off x="3988958" y="3978984"/>
            <a:ext cx="978408" cy="484632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66476-C035-B040-4280-96D21E9B7432}"/>
              </a:ext>
            </a:extLst>
          </p:cNvPr>
          <p:cNvSpPr txBox="1"/>
          <p:nvPr/>
        </p:nvSpPr>
        <p:spPr>
          <a:xfrm rot="21114913">
            <a:off x="4925558" y="2152388"/>
            <a:ext cx="12314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chemeClr val="accent5"/>
                </a:solidFill>
                <a:latin typeface="Pretendard Bold" panose="020B0600000101010101" charset="-127"/>
                <a:ea typeface="Pretendard Bold" panose="020B0600000101010101" charset="-127"/>
              </a:rPr>
              <a:t>Straight!</a:t>
            </a:r>
            <a:endParaRPr lang="ko-KR" altLang="en-US" sz="2000" dirty="0">
              <a:solidFill>
                <a:schemeClr val="accent5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50" name="TextBox 23">
            <a:extLst>
              <a:ext uri="{FF2B5EF4-FFF2-40B4-BE49-F238E27FC236}">
                <a16:creationId xmlns:a16="http://schemas.microsoft.com/office/drawing/2014/main" id="{5D5329E1-2757-E71E-AD01-B6506EA14BCD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스트레이트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16" name="그래픽 15" descr="빛나는 하트 단색으로 채워진">
            <a:extLst>
              <a:ext uri="{FF2B5EF4-FFF2-40B4-BE49-F238E27FC236}">
                <a16:creationId xmlns:a16="http://schemas.microsoft.com/office/drawing/2014/main" id="{B91BBA61-3593-5B76-AB30-0E8B81F892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51165" y="3581727"/>
            <a:ext cx="1080000" cy="1080000"/>
          </a:xfrm>
          <a:prstGeom prst="rect">
            <a:avLst/>
          </a:prstGeom>
        </p:spPr>
      </p:pic>
      <p:sp>
        <p:nvSpPr>
          <p:cNvPr id="47" name="타원 46">
            <a:extLst>
              <a:ext uri="{FF2B5EF4-FFF2-40B4-BE49-F238E27FC236}">
                <a16:creationId xmlns:a16="http://schemas.microsoft.com/office/drawing/2014/main" id="{812EF141-1C9B-B31F-0E64-7869D734DEE6}"/>
              </a:ext>
            </a:extLst>
          </p:cNvPr>
          <p:cNvSpPr>
            <a:spLocks/>
          </p:cNvSpPr>
          <p:nvPr/>
        </p:nvSpPr>
        <p:spPr>
          <a:xfrm>
            <a:off x="723900" y="2781300"/>
            <a:ext cx="2880000" cy="2880000"/>
          </a:xfrm>
          <a:prstGeom prst="ellipse">
            <a:avLst/>
          </a:prstGeom>
          <a:noFill/>
          <a:ln w="5715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7CDF134-CAEE-1F69-1434-5F04E89A95A8}"/>
              </a:ext>
            </a:extLst>
          </p:cNvPr>
          <p:cNvSpPr txBox="1"/>
          <p:nvPr/>
        </p:nvSpPr>
        <p:spPr>
          <a:xfrm>
            <a:off x="1600938" y="5124390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dirty="0">
                <a:latin typeface="Pretendard Bold" panose="020B0600000101010101" charset="-127"/>
                <a:ea typeface="Pretendard Bold" panose="020B0600000101010101" charset="-127"/>
              </a:rPr>
              <a:t>폭풍 </a:t>
            </a:r>
            <a:r>
              <a:rPr lang="en-US" altLang="ko-KR" sz="2000" dirty="0">
                <a:latin typeface="Pretendard Bold" panose="020B0600000101010101" charset="-127"/>
                <a:ea typeface="Pretendard Bold" panose="020B0600000101010101" charset="-127"/>
              </a:rPr>
              <a:t>Lv.3</a:t>
            </a:r>
          </a:p>
        </p:txBody>
      </p:sp>
      <p:pic>
        <p:nvPicPr>
          <p:cNvPr id="14" name="그래픽 13" descr="클로버 단색으로 채워진">
            <a:extLst>
              <a:ext uri="{FF2B5EF4-FFF2-40B4-BE49-F238E27FC236}">
                <a16:creationId xmlns:a16="http://schemas.microsoft.com/office/drawing/2014/main" id="{CFF9745D-4EF6-81ED-5D6A-F665BAFCE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1400" y="3581727"/>
            <a:ext cx="1080000" cy="1080000"/>
          </a:xfrm>
          <a:prstGeom prst="rect">
            <a:avLst/>
          </a:prstGeom>
        </p:spPr>
      </p:pic>
      <p:pic>
        <p:nvPicPr>
          <p:cNvPr id="15" name="그래픽 14" descr="스페이드 세트 단색으로 채워진">
            <a:extLst>
              <a:ext uri="{FF2B5EF4-FFF2-40B4-BE49-F238E27FC236}">
                <a16:creationId xmlns:a16="http://schemas.microsoft.com/office/drawing/2014/main" id="{ABB8737B-6EEA-F6A4-4B58-FA74B070E5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9454" y="3581727"/>
            <a:ext cx="1080000" cy="1080000"/>
          </a:xfrm>
          <a:prstGeom prst="rect">
            <a:avLst/>
          </a:prstGeom>
        </p:spPr>
      </p:pic>
      <p:pic>
        <p:nvPicPr>
          <p:cNvPr id="19" name="그래픽 18" descr="다이아몬드 단색으로 채워진">
            <a:extLst>
              <a:ext uri="{FF2B5EF4-FFF2-40B4-BE49-F238E27FC236}">
                <a16:creationId xmlns:a16="http://schemas.microsoft.com/office/drawing/2014/main" id="{C6EA3616-7A45-FBAB-9B21-713E82A53AC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4083800" y="3581727"/>
            <a:ext cx="1080000" cy="1080000"/>
          </a:xfrm>
          <a:prstGeom prst="rect">
            <a:avLst/>
          </a:prstGeom>
        </p:spPr>
      </p:pic>
      <p:pic>
        <p:nvPicPr>
          <p:cNvPr id="20" name="그래픽 19" descr="다이아몬드 단색으로 채워진">
            <a:extLst>
              <a:ext uri="{FF2B5EF4-FFF2-40B4-BE49-F238E27FC236}">
                <a16:creationId xmlns:a16="http://schemas.microsoft.com/office/drawing/2014/main" id="{1AA34178-09F2-B300-8596-04D0AA09E2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9664" y="3581727"/>
            <a:ext cx="1080000" cy="1080000"/>
          </a:xfrm>
          <a:prstGeom prst="rect">
            <a:avLst/>
          </a:prstGeom>
        </p:spPr>
      </p:pic>
      <p:pic>
        <p:nvPicPr>
          <p:cNvPr id="29" name="그래픽 28" descr="토네이도 단색으로 채워진">
            <a:extLst>
              <a:ext uri="{FF2B5EF4-FFF2-40B4-BE49-F238E27FC236}">
                <a16:creationId xmlns:a16="http://schemas.microsoft.com/office/drawing/2014/main" id="{68AB1E21-AD6E-7AD6-6F5E-62DAE2FBF03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3900" y="3056689"/>
            <a:ext cx="1800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435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BF1DC-E998-7803-21E0-3089EDC5A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1">
            <a:extLst>
              <a:ext uri="{FF2B5EF4-FFF2-40B4-BE49-F238E27FC236}">
                <a16:creationId xmlns:a16="http://schemas.microsoft.com/office/drawing/2014/main" id="{ABDF7BBA-3C32-392C-7010-76CF6C6CBCD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04800" y="1943099"/>
            <a:ext cx="17678400" cy="8000991"/>
          </a:xfrm>
          <a:prstGeom prst="rect">
            <a:avLst/>
          </a:prstGeom>
        </p:spPr>
      </p:pic>
      <p:sp>
        <p:nvSpPr>
          <p:cNvPr id="2" name="TextBox 23">
            <a:extLst>
              <a:ext uri="{FF2B5EF4-FFF2-40B4-BE49-F238E27FC236}">
                <a16:creationId xmlns:a16="http://schemas.microsoft.com/office/drawing/2014/main" id="{BF7EB15C-BC3C-36FC-DD0E-C252623FE479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 </a:t>
            </a:r>
            <a:r>
              <a:rPr lang="en-US" altLang="ko-KR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/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스킬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E4B5ADA-FBF8-75D6-D501-06737D8EBBC7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23">
            <a:extLst>
              <a:ext uri="{FF2B5EF4-FFF2-40B4-BE49-F238E27FC236}">
                <a16:creationId xmlns:a16="http://schemas.microsoft.com/office/drawing/2014/main" id="{E07AE8E0-0079-40A3-E3B4-D5CB8FC7DC6F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dirty="0">
                <a:solidFill>
                  <a:srgbClr val="000000"/>
                </a:solidFill>
                <a:ea typeface="Pretendard Bold"/>
              </a:rPr>
              <a:t>트럼프 규칙 사용 이유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13" name="그래픽 12" descr="플레이북 단색으로 채워진">
            <a:extLst>
              <a:ext uri="{FF2B5EF4-FFF2-40B4-BE49-F238E27FC236}">
                <a16:creationId xmlns:a16="http://schemas.microsoft.com/office/drawing/2014/main" id="{48E7C503-45EE-2248-F9FC-76AA4DECBF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18006" y="2400300"/>
            <a:ext cx="2880000" cy="2880000"/>
          </a:xfrm>
          <a:prstGeom prst="rect">
            <a:avLst/>
          </a:prstGeom>
        </p:spPr>
      </p:pic>
      <p:pic>
        <p:nvPicPr>
          <p:cNvPr id="22" name="그래픽 21" descr="카드 놀이 윤곽선">
            <a:extLst>
              <a:ext uri="{FF2B5EF4-FFF2-40B4-BE49-F238E27FC236}">
                <a16:creationId xmlns:a16="http://schemas.microsoft.com/office/drawing/2014/main" id="{17A7C7BA-B3E9-FCBB-B714-B67F0A2B04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89994" y="2400300"/>
            <a:ext cx="2880000" cy="28800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C56B30FC-0AD7-07E4-2F14-BA32335253F3}"/>
              </a:ext>
            </a:extLst>
          </p:cNvPr>
          <p:cNvSpPr txBox="1"/>
          <p:nvPr/>
        </p:nvSpPr>
        <p:spPr>
          <a:xfrm>
            <a:off x="5211409" y="4987912"/>
            <a:ext cx="893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latin typeface="Pretendard Medium" panose="020B0600000101010101" charset="-127"/>
                <a:ea typeface="Pretendard Medium" panose="020B0600000101010101" charset="-127"/>
              </a:rPr>
              <a:t>전략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6DCA41-8403-A7ED-5F37-D11C875C705F}"/>
              </a:ext>
            </a:extLst>
          </p:cNvPr>
          <p:cNvSpPr txBox="1"/>
          <p:nvPr/>
        </p:nvSpPr>
        <p:spPr>
          <a:xfrm>
            <a:off x="12183397" y="4987912"/>
            <a:ext cx="8931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latin typeface="Pretendard Medium" panose="020B0600000101010101" charset="-127"/>
                <a:ea typeface="Pretendard Medium" panose="020B0600000101010101" charset="-127"/>
              </a:rPr>
              <a:t>랜덤</a:t>
            </a:r>
          </a:p>
        </p:txBody>
      </p:sp>
      <p:sp>
        <p:nvSpPr>
          <p:cNvPr id="38" name="더하기 기호 37">
            <a:extLst>
              <a:ext uri="{FF2B5EF4-FFF2-40B4-BE49-F238E27FC236}">
                <a16:creationId xmlns:a16="http://schemas.microsoft.com/office/drawing/2014/main" id="{CA27AA3E-3959-7E84-4071-EE7A83B6E522}"/>
              </a:ext>
            </a:extLst>
          </p:cNvPr>
          <p:cNvSpPr/>
          <p:nvPr/>
        </p:nvSpPr>
        <p:spPr>
          <a:xfrm>
            <a:off x="8686800" y="3383100"/>
            <a:ext cx="914400" cy="914400"/>
          </a:xfrm>
          <a:prstGeom prst="mathPlus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3ACF6AF1-84E1-9728-60B2-D39FA4540B7E}"/>
              </a:ext>
            </a:extLst>
          </p:cNvPr>
          <p:cNvSpPr/>
          <p:nvPr/>
        </p:nvSpPr>
        <p:spPr>
          <a:xfrm>
            <a:off x="800100" y="6309272"/>
            <a:ext cx="166878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기본 스킬을 사용하게 되면 </a:t>
            </a:r>
            <a:r>
              <a:rPr lang="ko-KR" altLang="en-US" sz="24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전략이 일원화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가 된다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08640B86-CC35-E97E-786A-78BAF847433D}"/>
              </a:ext>
            </a:extLst>
          </p:cNvPr>
          <p:cNvSpPr/>
          <p:nvPr/>
        </p:nvSpPr>
        <p:spPr>
          <a:xfrm>
            <a:off x="838200" y="7216766"/>
            <a:ext cx="166878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전략의 다양성을 위해 스킬을 다양하게 사용할 수 있게 한다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11C87CE8-0440-FB14-3579-C6B7ADA57D7F}"/>
              </a:ext>
            </a:extLst>
          </p:cNvPr>
          <p:cNvSpPr/>
          <p:nvPr/>
        </p:nvSpPr>
        <p:spPr>
          <a:xfrm>
            <a:off x="838200" y="8124260"/>
            <a:ext cx="166878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트럼프 카드를 이용해 </a:t>
            </a:r>
            <a:r>
              <a:rPr lang="ko-KR" altLang="en-US" sz="24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랜덤성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을 주게 된다면 스테이지마다 사용하는 스킬이 달라지기에 전략이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다양해진다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1CBC38A8-EFE8-B96E-1C0B-8DCFA829026D}"/>
              </a:ext>
            </a:extLst>
          </p:cNvPr>
          <p:cNvSpPr/>
          <p:nvPr/>
        </p:nvSpPr>
        <p:spPr>
          <a:xfrm>
            <a:off x="838200" y="9031753"/>
            <a:ext cx="166878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또한 </a:t>
            </a:r>
            <a:r>
              <a:rPr lang="ko-KR" altLang="en-US" sz="2400" b="1" dirty="0">
                <a:solidFill>
                  <a:schemeClr val="accent6"/>
                </a:solidFill>
                <a:latin typeface="Pretendard Medium" panose="020B0600000101010101" charset="-127"/>
                <a:ea typeface="Pretendard Medium" panose="020B0600000101010101" charset="-127"/>
              </a:rPr>
              <a:t>카드의 소모와 드로우의 타이밍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에 따라 스테이지를 돌파하는데 있어 다양한 전략을 구사할 수 있다</a:t>
            </a:r>
          </a:p>
        </p:txBody>
      </p:sp>
    </p:spTree>
    <p:extLst>
      <p:ext uri="{BB962C8B-B14F-4D97-AF65-F5344CB8AC3E}">
        <p14:creationId xmlns:p14="http://schemas.microsoft.com/office/powerpoint/2010/main" val="1072323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E31B-6499-D63E-4E9B-6A9B019C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1">
            <a:extLst>
              <a:ext uri="{FF2B5EF4-FFF2-40B4-BE49-F238E27FC236}">
                <a16:creationId xmlns:a16="http://schemas.microsoft.com/office/drawing/2014/main" id="{D9149F77-CADB-B4B6-F93C-97A5A737EE1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04800" y="1943099"/>
            <a:ext cx="17678400" cy="8000991"/>
          </a:xfrm>
          <a:prstGeom prst="rect">
            <a:avLst/>
          </a:prstGeom>
        </p:spPr>
      </p:pic>
      <p:sp>
        <p:nvSpPr>
          <p:cNvPr id="2" name="TextBox 23">
            <a:extLst>
              <a:ext uri="{FF2B5EF4-FFF2-40B4-BE49-F238E27FC236}">
                <a16:creationId xmlns:a16="http://schemas.microsoft.com/office/drawing/2014/main" id="{2E0C7C24-11E6-ED40-D013-99B6D128922C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688B104-559E-6844-9C52-4ECAB253C675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23">
            <a:extLst>
              <a:ext uri="{FF2B5EF4-FFF2-40B4-BE49-F238E27FC236}">
                <a16:creationId xmlns:a16="http://schemas.microsoft.com/office/drawing/2014/main" id="{4C2214F2-FB5A-A5E9-3845-EEEAF9B2D6F2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Bold"/>
              </a:rPr>
              <a:t>카드 획득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0BADB9B3-DF31-BD07-6A84-DBC191BAA990}"/>
              </a:ext>
            </a:extLst>
          </p:cNvPr>
          <p:cNvSpPr/>
          <p:nvPr/>
        </p:nvSpPr>
        <p:spPr>
          <a:xfrm>
            <a:off x="1219200" y="6627884"/>
            <a:ext cx="61341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자신의 카드 표시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38FF0F0-A4C3-0B13-7354-74F5490E3EBB}"/>
              </a:ext>
            </a:extLst>
          </p:cNvPr>
          <p:cNvSpPr/>
          <p:nvPr/>
        </p:nvSpPr>
        <p:spPr>
          <a:xfrm>
            <a:off x="1257300" y="7535378"/>
            <a:ext cx="61341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이때 조커는 없다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ACC5F4BC-E4E1-9E02-E422-2D2037933468}"/>
              </a:ext>
            </a:extLst>
          </p:cNvPr>
          <p:cNvSpPr/>
          <p:nvPr/>
        </p:nvSpPr>
        <p:spPr>
          <a:xfrm>
            <a:off x="1257300" y="8442872"/>
            <a:ext cx="61341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처치 시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표시되어 있는 카드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드랍한다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5" name="그래픽 4" descr="남자 단색으로 채워진">
            <a:extLst>
              <a:ext uri="{FF2B5EF4-FFF2-40B4-BE49-F238E27FC236}">
                <a16:creationId xmlns:a16="http://schemas.microsoft.com/office/drawing/2014/main" id="{26A602E6-19B9-77BB-6557-E3239AF4FD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0600" y="3178866"/>
            <a:ext cx="2880000" cy="2880000"/>
          </a:xfrm>
          <a:prstGeom prst="rect">
            <a:avLst/>
          </a:prstGeom>
        </p:spPr>
      </p:pic>
      <p:pic>
        <p:nvPicPr>
          <p:cNvPr id="6" name="그래픽 5" descr="스페이드 세트 단색으로 채워진">
            <a:extLst>
              <a:ext uri="{FF2B5EF4-FFF2-40B4-BE49-F238E27FC236}">
                <a16:creationId xmlns:a16="http://schemas.microsoft.com/office/drawing/2014/main" id="{68E56B24-866F-15A9-FB4D-2A3D453F1D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90000" y="3107318"/>
            <a:ext cx="720000" cy="72000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CFA31A1-45DF-6B6C-ED34-A37D95E21203}"/>
              </a:ext>
            </a:extLst>
          </p:cNvPr>
          <p:cNvSpPr/>
          <p:nvPr/>
        </p:nvSpPr>
        <p:spPr>
          <a:xfrm>
            <a:off x="5105400" y="30861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97A93A-128D-6E58-0023-147FDFC6E5A8}"/>
              </a:ext>
            </a:extLst>
          </p:cNvPr>
          <p:cNvSpPr txBox="1"/>
          <p:nvPr/>
        </p:nvSpPr>
        <p:spPr>
          <a:xfrm>
            <a:off x="5188965" y="4064540"/>
            <a:ext cx="62388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14" name="그래픽 13" descr="스페이드 세트 단색으로 채워진">
            <a:extLst>
              <a:ext uri="{FF2B5EF4-FFF2-40B4-BE49-F238E27FC236}">
                <a16:creationId xmlns:a16="http://schemas.microsoft.com/office/drawing/2014/main" id="{34641929-0073-3492-5C32-EAF71287CF6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87254" y="3962727"/>
            <a:ext cx="1080000" cy="1080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3323ACB-BA78-2A40-76A9-CE34D6073530}"/>
              </a:ext>
            </a:extLst>
          </p:cNvPr>
          <p:cNvSpPr txBox="1"/>
          <p:nvPr/>
        </p:nvSpPr>
        <p:spPr>
          <a:xfrm>
            <a:off x="2709000" y="3078659"/>
            <a:ext cx="5373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Pretendard Medium" panose="020B0600000101010101" charset="-127"/>
                <a:ea typeface="Pretendard Medium" panose="020B0600000101010101" charset="-127"/>
              </a:rPr>
              <a:t>3</a:t>
            </a:r>
            <a:endParaRPr lang="ko-KR" altLang="en-US" sz="44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91136020-047B-DDC5-7D69-831CFBF19987}"/>
              </a:ext>
            </a:extLst>
          </p:cNvPr>
          <p:cNvSpPr/>
          <p:nvPr/>
        </p:nvSpPr>
        <p:spPr>
          <a:xfrm>
            <a:off x="3634106" y="4376550"/>
            <a:ext cx="978408" cy="484632"/>
          </a:xfrm>
          <a:prstGeom prst="rightArrow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래픽 17" descr="남자 단색으로 채워진">
            <a:extLst>
              <a:ext uri="{FF2B5EF4-FFF2-40B4-BE49-F238E27FC236}">
                <a16:creationId xmlns:a16="http://schemas.microsoft.com/office/drawing/2014/main" id="{062380FC-88F6-5C77-95D4-8720B8C0C25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35600" y="3178866"/>
            <a:ext cx="2880000" cy="2880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F2412ADC-FA0F-064B-A58C-8F45E8577163}"/>
              </a:ext>
            </a:extLst>
          </p:cNvPr>
          <p:cNvSpPr txBox="1"/>
          <p:nvPr/>
        </p:nvSpPr>
        <p:spPr>
          <a:xfrm>
            <a:off x="12411006" y="2933700"/>
            <a:ext cx="46679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 dirty="0">
                <a:latin typeface="Pretendard Medium" panose="020B0600000101010101" charset="-127"/>
                <a:ea typeface="Pretendard Medium" panose="020B0600000101010101" charset="-127"/>
              </a:rPr>
              <a:t>?</a:t>
            </a:r>
            <a:endParaRPr lang="ko-KR" altLang="en-US" sz="44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4D391C54-6979-CDE9-8B43-74DEC9596D79}"/>
              </a:ext>
            </a:extLst>
          </p:cNvPr>
          <p:cNvSpPr/>
          <p:nvPr/>
        </p:nvSpPr>
        <p:spPr>
          <a:xfrm>
            <a:off x="12877800" y="4376550"/>
            <a:ext cx="978408" cy="484632"/>
          </a:xfrm>
          <a:prstGeom prst="rightArrow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래픽 26" descr="조커 윤곽선">
            <a:extLst>
              <a:ext uri="{FF2B5EF4-FFF2-40B4-BE49-F238E27FC236}">
                <a16:creationId xmlns:a16="http://schemas.microsoft.com/office/drawing/2014/main" id="{C4E4E852-2DE4-DB0D-4794-4D8AB11DAD3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3335000" y="3012654"/>
            <a:ext cx="3197646" cy="3197646"/>
          </a:xfrm>
          <a:prstGeom prst="rect">
            <a:avLst/>
          </a:prstGeom>
        </p:spPr>
      </p:pic>
      <p:pic>
        <p:nvPicPr>
          <p:cNvPr id="28" name="그래픽 27" descr="스페이드 세트 단색으로 채워진">
            <a:extLst>
              <a:ext uri="{FF2B5EF4-FFF2-40B4-BE49-F238E27FC236}">
                <a16:creationId xmlns:a16="http://schemas.microsoft.com/office/drawing/2014/main" id="{30EDB488-ED46-DB10-4384-A1D8C761904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63000" y="2958420"/>
            <a:ext cx="720000" cy="720000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357F51A-ECE6-A82A-1EC8-62C0E66ED55C}"/>
              </a:ext>
            </a:extLst>
          </p:cNvPr>
          <p:cNvSpPr/>
          <p:nvPr/>
        </p:nvSpPr>
        <p:spPr>
          <a:xfrm>
            <a:off x="10823864" y="6622227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문양만 나타나 있고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숫자는 가려져 있다</a:t>
            </a: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4CA4AF16-7588-B6E6-BBE0-831644526CDB}"/>
              </a:ext>
            </a:extLst>
          </p:cNvPr>
          <p:cNvSpPr/>
          <p:nvPr/>
        </p:nvSpPr>
        <p:spPr>
          <a:xfrm>
            <a:off x="10828907" y="7266266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처치 시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표시된 문양 중 랜덤으로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드랍한다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665E7EBA-29F5-8E1F-3A9A-C6BD80B18FD6}"/>
              </a:ext>
            </a:extLst>
          </p:cNvPr>
          <p:cNvSpPr/>
          <p:nvPr/>
        </p:nvSpPr>
        <p:spPr>
          <a:xfrm>
            <a:off x="10827624" y="7910305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이때 일정 확률로 조커도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드랍한다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5" name="TextBox 23">
            <a:extLst>
              <a:ext uri="{FF2B5EF4-FFF2-40B4-BE49-F238E27FC236}">
                <a16:creationId xmlns:a16="http://schemas.microsoft.com/office/drawing/2014/main" id="{834BFC3D-2D03-BA74-87EB-0B6DE224025F}"/>
              </a:ext>
            </a:extLst>
          </p:cNvPr>
          <p:cNvSpPr txBox="1"/>
          <p:nvPr/>
        </p:nvSpPr>
        <p:spPr>
          <a:xfrm>
            <a:off x="1824606" y="2318702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>
                <a:solidFill>
                  <a:srgbClr val="000000"/>
                </a:solidFill>
                <a:ea typeface="Pretendard Bold"/>
              </a:rPr>
              <a:t>일반 적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96785470-ECE0-205D-09ED-399181AAD1E7}"/>
              </a:ext>
            </a:extLst>
          </p:cNvPr>
          <p:cNvSpPr txBox="1"/>
          <p:nvPr/>
        </p:nvSpPr>
        <p:spPr>
          <a:xfrm>
            <a:off x="12111520" y="2358012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Bold"/>
              </a:rPr>
              <a:t>엘리트 적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B299013-CD76-1FF3-72F1-694037C75301}"/>
              </a:ext>
            </a:extLst>
          </p:cNvPr>
          <p:cNvSpPr/>
          <p:nvPr/>
        </p:nvSpPr>
        <p:spPr>
          <a:xfrm>
            <a:off x="15923046" y="3162300"/>
            <a:ext cx="1752600" cy="2895600"/>
          </a:xfrm>
          <a:prstGeom prst="roundRect">
            <a:avLst>
              <a:gd name="adj" fmla="val 7774"/>
            </a:avLst>
          </a:prstGeom>
          <a:solidFill>
            <a:schemeClr val="bg1"/>
          </a:solidFill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6A4AA44-3E77-C1FB-C3C3-998289CAFE49}"/>
              </a:ext>
            </a:extLst>
          </p:cNvPr>
          <p:cNvSpPr txBox="1"/>
          <p:nvPr/>
        </p:nvSpPr>
        <p:spPr>
          <a:xfrm>
            <a:off x="16006611" y="4140740"/>
            <a:ext cx="612668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500" dirty="0">
                <a:latin typeface="Pretendard Medium" panose="020B0600000101010101" charset="-127"/>
                <a:ea typeface="Pretendard Medium" panose="020B0600000101010101" charset="-127"/>
              </a:rPr>
              <a:t>5</a:t>
            </a:r>
            <a:endParaRPr lang="ko-KR" altLang="en-US" sz="5500" dirty="0"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pic>
        <p:nvPicPr>
          <p:cNvPr id="40" name="그래픽 39" descr="스페이드 세트 단색으로 채워진">
            <a:extLst>
              <a:ext uri="{FF2B5EF4-FFF2-40B4-BE49-F238E27FC236}">
                <a16:creationId xmlns:a16="http://schemas.microsoft.com/office/drawing/2014/main" id="{DB78146C-17D5-58E7-46F2-03617DECD9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504900" y="4038927"/>
            <a:ext cx="1080000" cy="1080000"/>
          </a:xfrm>
          <a:prstGeom prst="rect">
            <a:avLst/>
          </a:prstGeom>
        </p:spPr>
      </p:pic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2C79EC46-E09C-8691-0189-6EC844EE70D9}"/>
              </a:ext>
            </a:extLst>
          </p:cNvPr>
          <p:cNvCxnSpPr>
            <a:cxnSpLocks/>
          </p:cNvCxnSpPr>
          <p:nvPr/>
        </p:nvCxnSpPr>
        <p:spPr>
          <a:xfrm>
            <a:off x="9144000" y="2552700"/>
            <a:ext cx="0" cy="65532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F4499C1-B618-8AD7-7A88-2D1A45434C88}"/>
              </a:ext>
            </a:extLst>
          </p:cNvPr>
          <p:cNvSpPr/>
          <p:nvPr/>
        </p:nvSpPr>
        <p:spPr>
          <a:xfrm>
            <a:off x="10823864" y="8554343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엘리트 구역에서만 나온다</a:t>
            </a:r>
          </a:p>
        </p:txBody>
      </p:sp>
    </p:spTree>
    <p:extLst>
      <p:ext uri="{BB962C8B-B14F-4D97-AF65-F5344CB8AC3E}">
        <p14:creationId xmlns:p14="http://schemas.microsoft.com/office/powerpoint/2010/main" val="4152223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7D0FD-7439-1163-3669-12D198D4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21">
            <a:extLst>
              <a:ext uri="{FF2B5EF4-FFF2-40B4-BE49-F238E27FC236}">
                <a16:creationId xmlns:a16="http://schemas.microsoft.com/office/drawing/2014/main" id="{59A3BF4D-8058-5438-85E4-D26AA9081B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04800" y="1638300"/>
            <a:ext cx="17678400" cy="8000991"/>
          </a:xfrm>
          <a:prstGeom prst="rect">
            <a:avLst/>
          </a:prstGeom>
        </p:spPr>
      </p:pic>
      <p:sp>
        <p:nvSpPr>
          <p:cNvPr id="2" name="TextBox 23">
            <a:extLst>
              <a:ext uri="{FF2B5EF4-FFF2-40B4-BE49-F238E27FC236}">
                <a16:creationId xmlns:a16="http://schemas.microsoft.com/office/drawing/2014/main" id="{DE69F335-FEC9-FE5A-1875-95A27E3BAA87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63BA1D2-7FA3-8BD7-B496-65FEFD0338DC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23">
            <a:extLst>
              <a:ext uri="{FF2B5EF4-FFF2-40B4-BE49-F238E27FC236}">
                <a16:creationId xmlns:a16="http://schemas.microsoft.com/office/drawing/2014/main" id="{8E611C12-F2EF-3227-91A3-6E8D68CB030C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Bold"/>
              </a:rPr>
              <a:t>카드 획득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18" name="그래픽 17" descr="남자 단색으로 채워진">
            <a:extLst>
              <a:ext uri="{FF2B5EF4-FFF2-40B4-BE49-F238E27FC236}">
                <a16:creationId xmlns:a16="http://schemas.microsoft.com/office/drawing/2014/main" id="{9E142E73-DAB6-FEA8-41D7-C73C8A9C08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" y="3178866"/>
            <a:ext cx="2880000" cy="2880000"/>
          </a:xfrm>
          <a:prstGeom prst="rect">
            <a:avLst/>
          </a:prstGeom>
        </p:spPr>
      </p:pic>
      <p:sp>
        <p:nvSpPr>
          <p:cNvPr id="25" name="화살표: 오른쪽 24">
            <a:extLst>
              <a:ext uri="{FF2B5EF4-FFF2-40B4-BE49-F238E27FC236}">
                <a16:creationId xmlns:a16="http://schemas.microsoft.com/office/drawing/2014/main" id="{65312319-58C2-B60F-CAB4-0551AF5853B2}"/>
              </a:ext>
            </a:extLst>
          </p:cNvPr>
          <p:cNvSpPr/>
          <p:nvPr/>
        </p:nvSpPr>
        <p:spPr>
          <a:xfrm>
            <a:off x="3481706" y="4376550"/>
            <a:ext cx="978408" cy="484632"/>
          </a:xfrm>
          <a:prstGeom prst="rightArrow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7" name="그래픽 26" descr="조커 윤곽선">
            <a:extLst>
              <a:ext uri="{FF2B5EF4-FFF2-40B4-BE49-F238E27FC236}">
                <a16:creationId xmlns:a16="http://schemas.microsoft.com/office/drawing/2014/main" id="{E241C00F-6183-133B-9C32-B99C0337764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323400" y="3012654"/>
            <a:ext cx="3197646" cy="3197646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67B1B41-078A-C356-D059-FD8BE716A62B}"/>
              </a:ext>
            </a:extLst>
          </p:cNvPr>
          <p:cNvSpPr/>
          <p:nvPr/>
        </p:nvSpPr>
        <p:spPr>
          <a:xfrm>
            <a:off x="1126464" y="6622227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문양만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나타나있다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6EA98F61-8A97-FBF2-8C2F-DDB5CFB2053A}"/>
              </a:ext>
            </a:extLst>
          </p:cNvPr>
          <p:cNvSpPr/>
          <p:nvPr/>
        </p:nvSpPr>
        <p:spPr>
          <a:xfrm>
            <a:off x="1164564" y="7246918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처치 시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모든 카드 중 랜덤으로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드랍한다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1F1DF2C-6B91-D030-D565-EB2655BA8937}"/>
              </a:ext>
            </a:extLst>
          </p:cNvPr>
          <p:cNvSpPr/>
          <p:nvPr/>
        </p:nvSpPr>
        <p:spPr>
          <a:xfrm>
            <a:off x="1164564" y="7871609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드랍되는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카드는 여러 개</a:t>
            </a:r>
          </a:p>
        </p:txBody>
      </p:sp>
      <p:sp>
        <p:nvSpPr>
          <p:cNvPr id="36" name="TextBox 23">
            <a:extLst>
              <a:ext uri="{FF2B5EF4-FFF2-40B4-BE49-F238E27FC236}">
                <a16:creationId xmlns:a16="http://schemas.microsoft.com/office/drawing/2014/main" id="{607BC5C3-520C-E1DD-828E-3C7F834D6B2D}"/>
              </a:ext>
            </a:extLst>
          </p:cNvPr>
          <p:cNvSpPr txBox="1"/>
          <p:nvPr/>
        </p:nvSpPr>
        <p:spPr>
          <a:xfrm>
            <a:off x="2133600" y="2358012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Bold"/>
              </a:rPr>
              <a:t>보스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E23A399-74A7-95EE-6B51-4D58A61CF832}"/>
              </a:ext>
            </a:extLst>
          </p:cNvPr>
          <p:cNvCxnSpPr>
            <a:cxnSpLocks/>
          </p:cNvCxnSpPr>
          <p:nvPr/>
        </p:nvCxnSpPr>
        <p:spPr>
          <a:xfrm>
            <a:off x="9144000" y="2552700"/>
            <a:ext cx="0" cy="655320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래픽 8" descr="스페이드 세트 단색으로 채워진">
            <a:extLst>
              <a:ext uri="{FF2B5EF4-FFF2-40B4-BE49-F238E27FC236}">
                <a16:creationId xmlns:a16="http://schemas.microsoft.com/office/drawing/2014/main" id="{AC830FBC-13FE-4BA8-EAB7-02A20E3DF6A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56600" y="2958420"/>
            <a:ext cx="720000" cy="720000"/>
          </a:xfrm>
          <a:prstGeom prst="rect">
            <a:avLst/>
          </a:prstGeom>
        </p:spPr>
      </p:pic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8C09B0E-7C80-10E8-89EC-3D87B1064648}"/>
              </a:ext>
            </a:extLst>
          </p:cNvPr>
          <p:cNvSpPr/>
          <p:nvPr/>
        </p:nvSpPr>
        <p:spPr>
          <a:xfrm>
            <a:off x="10610850" y="2643040"/>
            <a:ext cx="61341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모든 적은 일정량의 재화를 드랍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8CB885DD-EF1E-3C92-DD3F-0BD6D7894AB5}"/>
              </a:ext>
            </a:extLst>
          </p:cNvPr>
          <p:cNvSpPr/>
          <p:nvPr/>
        </p:nvSpPr>
        <p:spPr>
          <a:xfrm>
            <a:off x="10648950" y="3550534"/>
            <a:ext cx="6134100" cy="739228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재화는 스테이지 중 상점 스테이지에서 사용 가능</a:t>
            </a: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A14885FB-81D7-7667-2C7A-2139BD77AB36}"/>
              </a:ext>
            </a:extLst>
          </p:cNvPr>
          <p:cNvSpPr>
            <a:spLocks noChangeAspect="1"/>
          </p:cNvSpPr>
          <p:nvPr/>
        </p:nvSpPr>
        <p:spPr>
          <a:xfrm>
            <a:off x="12237900" y="5829300"/>
            <a:ext cx="2880000" cy="2880000"/>
          </a:xfrm>
          <a:prstGeom prst="ellipse">
            <a:avLst/>
          </a:prstGeom>
          <a:noFill/>
          <a:ln w="76200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상점 </a:t>
            </a:r>
            <a:endParaRPr lang="en-US" altLang="ko-KR" sz="2800" dirty="0">
              <a:solidFill>
                <a:schemeClr val="tx1"/>
              </a:solidFill>
              <a:latin typeface="Pretendard Bold" panose="020B0600000101010101" charset="-127"/>
              <a:ea typeface="Pretendard Bold" panose="020B0600000101010101" charset="-127"/>
            </a:endParaRPr>
          </a:p>
          <a:p>
            <a:pPr algn="ctr"/>
            <a:r>
              <a:rPr lang="ko-KR" altLang="en-US" sz="2800" dirty="0">
                <a:solidFill>
                  <a:schemeClr val="tx1"/>
                </a:solidFill>
                <a:latin typeface="Pretendard Bold" panose="020B0600000101010101" charset="-127"/>
                <a:ea typeface="Pretendard Bold" panose="020B0600000101010101" charset="-127"/>
              </a:rPr>
              <a:t>수행 목록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8A3B376F-3899-0636-0CCA-9E04FF4FE794}"/>
              </a:ext>
            </a:extLst>
          </p:cNvPr>
          <p:cNvSpPr/>
          <p:nvPr/>
        </p:nvSpPr>
        <p:spPr>
          <a:xfrm>
            <a:off x="12783417" y="5067300"/>
            <a:ext cx="1788965" cy="609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카드 구매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7ADD82A7-D1DF-348D-F7D0-3DDFC1697191}"/>
              </a:ext>
            </a:extLst>
          </p:cNvPr>
          <p:cNvSpPr/>
          <p:nvPr/>
        </p:nvSpPr>
        <p:spPr>
          <a:xfrm>
            <a:off x="15324560" y="6920121"/>
            <a:ext cx="1788965" cy="609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카드 제거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2350547-A3D1-406B-F6A9-0CD044C8D621}"/>
              </a:ext>
            </a:extLst>
          </p:cNvPr>
          <p:cNvSpPr/>
          <p:nvPr/>
        </p:nvSpPr>
        <p:spPr>
          <a:xfrm>
            <a:off x="10242275" y="6966875"/>
            <a:ext cx="1788965" cy="609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캐릭터 강화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3DA45CD6-2592-12CF-00DF-7E60DC5993B4}"/>
              </a:ext>
            </a:extLst>
          </p:cNvPr>
          <p:cNvSpPr/>
          <p:nvPr/>
        </p:nvSpPr>
        <p:spPr>
          <a:xfrm>
            <a:off x="12821517" y="8871643"/>
            <a:ext cx="1788965" cy="609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카드 강화</a:t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7E576D-9A1F-DAF9-63EE-D3E525C7F625}"/>
              </a:ext>
            </a:extLst>
          </p:cNvPr>
          <p:cNvSpPr/>
          <p:nvPr/>
        </p:nvSpPr>
        <p:spPr>
          <a:xfrm>
            <a:off x="1171142" y="8496300"/>
            <a:ext cx="6134100" cy="51628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보스 구역에서만 나온다</a:t>
            </a:r>
          </a:p>
        </p:txBody>
      </p:sp>
    </p:spTree>
    <p:extLst>
      <p:ext uri="{BB962C8B-B14F-4D97-AF65-F5344CB8AC3E}">
        <p14:creationId xmlns:p14="http://schemas.microsoft.com/office/powerpoint/2010/main" val="28295688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32FAE-F1E4-10FF-1782-119ED8814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A0176FE0-4768-320F-99AD-92DA4821E2AD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b="0" i="0" u="none" strike="noStrike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게임 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플레이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8B1A72E-B2B2-0D3A-5CE4-69F483D421EA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23">
            <a:extLst>
              <a:ext uri="{FF2B5EF4-FFF2-40B4-BE49-F238E27FC236}">
                <a16:creationId xmlns:a16="http://schemas.microsoft.com/office/drawing/2014/main" id="{F902AD79-5750-AB04-6A24-0FB3908256CE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Bold"/>
              </a:rPr>
              <a:t>조커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27" name="그래픽 26" descr="조커 윤곽선">
            <a:extLst>
              <a:ext uri="{FF2B5EF4-FFF2-40B4-BE49-F238E27FC236}">
                <a16:creationId xmlns:a16="http://schemas.microsoft.com/office/drawing/2014/main" id="{6AEDED73-B94A-0084-0093-FFE1C5D015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4000" y="2019300"/>
            <a:ext cx="5400000" cy="5400000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2D7EC99-25D2-5CEB-638A-160C4489BEF2}"/>
              </a:ext>
            </a:extLst>
          </p:cNvPr>
          <p:cNvSpPr/>
          <p:nvPr/>
        </p:nvSpPr>
        <p:spPr>
          <a:xfrm>
            <a:off x="1905000" y="7195500"/>
            <a:ext cx="14744700" cy="2520000"/>
          </a:xfrm>
          <a:prstGeom prst="roundRect">
            <a:avLst/>
          </a:prstGeom>
          <a:solidFill>
            <a:schemeClr val="bg1"/>
          </a:solidFill>
          <a:ln>
            <a:solidFill>
              <a:srgbClr val="F288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조커는 단독으로 사용 가능하다</a:t>
            </a:r>
            <a:endParaRPr lang="en-US" altLang="ko-KR" sz="2800" b="1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  <a:p>
            <a:pPr algn="ctr"/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사용 시</a:t>
            </a:r>
            <a:r>
              <a:rPr lang="en-US" altLang="ko-KR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800" b="1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해당 스테이지에서 좋은 효과를 주지만 그에 따라 악화 효과를 준다</a:t>
            </a:r>
          </a:p>
        </p:txBody>
      </p:sp>
    </p:spTree>
    <p:extLst>
      <p:ext uri="{BB962C8B-B14F-4D97-AF65-F5344CB8AC3E}">
        <p14:creationId xmlns:p14="http://schemas.microsoft.com/office/powerpoint/2010/main" val="3383707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205A7-D6FC-27D5-E89C-24A1F6D87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F7426153-4256-137B-E1C7-517DD024F16A}"/>
              </a:ext>
            </a:extLst>
          </p:cNvPr>
          <p:cNvSpPr txBox="1"/>
          <p:nvPr/>
        </p:nvSpPr>
        <p:spPr>
          <a:xfrm>
            <a:off x="6499812" y="2667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dirty="0" err="1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언리얼</a:t>
            </a: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 엔진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48EC8C4-0754-3F8C-6A7A-448F5A00BD17}"/>
              </a:ext>
            </a:extLst>
          </p:cNvPr>
          <p:cNvCxnSpPr>
            <a:cxnSpLocks/>
          </p:cNvCxnSpPr>
          <p:nvPr/>
        </p:nvCxnSpPr>
        <p:spPr>
          <a:xfrm>
            <a:off x="4610100" y="12319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23">
            <a:extLst>
              <a:ext uri="{FF2B5EF4-FFF2-40B4-BE49-F238E27FC236}">
                <a16:creationId xmlns:a16="http://schemas.microsoft.com/office/drawing/2014/main" id="{80CCABFB-C376-3610-4889-89FA724E8AFC}"/>
              </a:ext>
            </a:extLst>
          </p:cNvPr>
          <p:cNvSpPr txBox="1"/>
          <p:nvPr/>
        </p:nvSpPr>
        <p:spPr>
          <a:xfrm>
            <a:off x="7098006" y="1333500"/>
            <a:ext cx="4091988" cy="41179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2400" b="0" i="0" u="none" strike="noStrike" dirty="0">
                <a:solidFill>
                  <a:srgbClr val="000000"/>
                </a:solidFill>
                <a:ea typeface="Pretendard Bold"/>
              </a:rPr>
              <a:t>왜 사용해야 하는가</a:t>
            </a:r>
            <a:endParaRPr lang="ko-KR" sz="24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pic>
        <p:nvPicPr>
          <p:cNvPr id="5" name="Picture 21">
            <a:extLst>
              <a:ext uri="{FF2B5EF4-FFF2-40B4-BE49-F238E27FC236}">
                <a16:creationId xmlns:a16="http://schemas.microsoft.com/office/drawing/2014/main" id="{661DF5ED-083B-7A51-B80B-60915DFDC52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04800" y="1943099"/>
            <a:ext cx="17678400" cy="8000991"/>
          </a:xfrm>
          <a:prstGeom prst="rect">
            <a:avLst/>
          </a:prstGeom>
        </p:spPr>
      </p:pic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FE9E123-7697-8D22-5C18-A567968085F4}"/>
              </a:ext>
            </a:extLst>
          </p:cNvPr>
          <p:cNvSpPr/>
          <p:nvPr/>
        </p:nvSpPr>
        <p:spPr>
          <a:xfrm>
            <a:off x="533400" y="2324100"/>
            <a:ext cx="22860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개발 용이성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700D6C7-24FD-18D9-2A92-7BBAD4C5DF00}"/>
              </a:ext>
            </a:extLst>
          </p:cNvPr>
          <p:cNvSpPr/>
          <p:nvPr/>
        </p:nvSpPr>
        <p:spPr>
          <a:xfrm>
            <a:off x="2971800" y="2334491"/>
            <a:ext cx="147828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Direct3D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를 사용할 경우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렌더링 루프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텍스처 로딩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애니메이션 스켈레톤 구성 등 다양한 요소들을 별도로 구성해야 합니다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반면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Unreal Engine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은 이러한 계산과 처리를 엔진 내부에서 자동으로 수행해주기 때문에 개발이 훨씬 용이합니다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F2CF9ED-CFF5-76FD-C5D6-4FC568403035}"/>
              </a:ext>
            </a:extLst>
          </p:cNvPr>
          <p:cNvSpPr/>
          <p:nvPr/>
        </p:nvSpPr>
        <p:spPr>
          <a:xfrm>
            <a:off x="533400" y="3620884"/>
            <a:ext cx="22860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비주얼 </a:t>
            </a:r>
            <a:r>
              <a:rPr lang="ko-KR" altLang="en-US" sz="2400" b="1" dirty="0" err="1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에디팅</a:t>
            </a:r>
            <a:endParaRPr lang="ko-KR" altLang="en-US" sz="2400" b="1" dirty="0">
              <a:solidFill>
                <a:srgbClr val="F2883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45FCA60-98AE-46B0-B623-3A0A12F35C01}"/>
              </a:ext>
            </a:extLst>
          </p:cNvPr>
          <p:cNvSpPr/>
          <p:nvPr/>
        </p:nvSpPr>
        <p:spPr>
          <a:xfrm>
            <a:off x="2971800" y="3629197"/>
            <a:ext cx="147828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복잡한 레벨 디자인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에셋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배치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머티리얼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구성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파티클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셋업을 엔진 에디터에서 시각적으로 처리 가능합니다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1FA0893-CC80-76F1-D393-1CEEBED5AB5C}"/>
              </a:ext>
            </a:extLst>
          </p:cNvPr>
          <p:cNvSpPr/>
          <p:nvPr/>
        </p:nvSpPr>
        <p:spPr>
          <a:xfrm>
            <a:off x="533400" y="4917668"/>
            <a:ext cx="22860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디버깅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D3C08F-D82F-FDB8-D2EA-18100F648AD2}"/>
              </a:ext>
            </a:extLst>
          </p:cNvPr>
          <p:cNvSpPr/>
          <p:nvPr/>
        </p:nvSpPr>
        <p:spPr>
          <a:xfrm>
            <a:off x="2971800" y="4923903"/>
            <a:ext cx="147828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Unreal Engine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은 게임 실행 전 시뮬레이션과 실시간 디버깅 기능을 제공하므로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</a:p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Direct3D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기반 개발에 비해 디버깅 과정이 훨씬 빠르고 효율적입니다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8904216-3886-19AD-FBB0-9567EC72CCAA}"/>
              </a:ext>
            </a:extLst>
          </p:cNvPr>
          <p:cNvSpPr/>
          <p:nvPr/>
        </p:nvSpPr>
        <p:spPr>
          <a:xfrm>
            <a:off x="533400" y="6214452"/>
            <a:ext cx="22860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 err="1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가비지</a:t>
            </a:r>
            <a:r>
              <a:rPr lang="ko-KR" altLang="en-US" sz="2400" b="1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 </a:t>
            </a:r>
            <a:r>
              <a:rPr lang="ko-KR" altLang="en-US" sz="2400" b="1" dirty="0" err="1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콜렉션</a:t>
            </a:r>
            <a:endParaRPr lang="ko-KR" altLang="en-US" sz="2400" b="1" dirty="0">
              <a:solidFill>
                <a:srgbClr val="F2883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E4AB40D-213B-276B-86FA-BD8DB25C4EC0}"/>
              </a:ext>
            </a:extLst>
          </p:cNvPr>
          <p:cNvSpPr/>
          <p:nvPr/>
        </p:nvSpPr>
        <p:spPr>
          <a:xfrm>
            <a:off x="2971800" y="6218609"/>
            <a:ext cx="147828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Unreal Engine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의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Garbage Collection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기능은 수동 메모리 관리보다 안전하고 효율적인 게임 개발을 가능하게 합니다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75F5E0F-D84D-C6A6-76C0-87F138C6F0BC}"/>
              </a:ext>
            </a:extLst>
          </p:cNvPr>
          <p:cNvSpPr/>
          <p:nvPr/>
        </p:nvSpPr>
        <p:spPr>
          <a:xfrm>
            <a:off x="533400" y="7511236"/>
            <a:ext cx="22860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b="1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코드 연동성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28E70F2-1D2C-2BF2-14EF-2E8807C2A3EE}"/>
              </a:ext>
            </a:extLst>
          </p:cNvPr>
          <p:cNvSpPr/>
          <p:nvPr/>
        </p:nvSpPr>
        <p:spPr>
          <a:xfrm>
            <a:off x="2971800" y="7513315"/>
            <a:ext cx="147828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Unreal Engine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은 에디터에서 만든 </a:t>
            </a:r>
            <a:r>
              <a:rPr lang="ko-KR" altLang="en-US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머티리얼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메시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애니메이션 등을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C++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코드로 직접 제어할 수 있어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시각적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·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청각적 요소들을 자유롭게 프로그래밍할 수 있다는 장점이 있습니다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AEEFC024-B0A0-3231-2F85-D9CF40148169}"/>
              </a:ext>
            </a:extLst>
          </p:cNvPr>
          <p:cNvSpPr/>
          <p:nvPr/>
        </p:nvSpPr>
        <p:spPr>
          <a:xfrm>
            <a:off x="533400" y="8808022"/>
            <a:ext cx="22860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b="1" dirty="0">
                <a:solidFill>
                  <a:srgbClr val="F28830"/>
                </a:solidFill>
                <a:latin typeface="Pretendard Bold" panose="020B0600000101010101" charset="-127"/>
                <a:ea typeface="Pretendard Bold" panose="020B0600000101010101" charset="-127"/>
              </a:rPr>
              <a:t>Low-level API</a:t>
            </a:r>
            <a:endParaRPr lang="ko-KR" altLang="en-US" sz="2400" b="1" dirty="0">
              <a:solidFill>
                <a:srgbClr val="F28830"/>
              </a:solidFill>
              <a:latin typeface="Pretendard Bold" panose="020B0600000101010101" charset="-127"/>
              <a:ea typeface="Pretendard Bold" panose="020B0600000101010101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EA0145B-9E05-A091-9B79-3BAA10FD9F22}"/>
              </a:ext>
            </a:extLst>
          </p:cNvPr>
          <p:cNvSpPr/>
          <p:nvPr/>
        </p:nvSpPr>
        <p:spPr>
          <a:xfrm>
            <a:off x="2971800" y="8808022"/>
            <a:ext cx="14782800" cy="9906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Direct3D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는 그래픽 렌더링에 특화된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API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일 뿐이며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, </a:t>
            </a:r>
          </a:p>
          <a:p>
            <a:pPr algn="ctr"/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애니메이션 시스템이나 사운드 재생을 위한 </a:t>
            </a:r>
            <a:r>
              <a:rPr lang="en-US" altLang="ko-KR" sz="2400" dirty="0" err="1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OpenAL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 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등의 별도 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API</a:t>
            </a:r>
            <a:r>
              <a:rPr lang="ko-KR" altLang="en-US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를 따로 결합해야 합니다</a:t>
            </a:r>
            <a:r>
              <a:rPr lang="en-US" altLang="ko-KR" sz="2400" dirty="0">
                <a:solidFill>
                  <a:schemeClr val="tx1"/>
                </a:solidFill>
                <a:latin typeface="Pretendard Medium" panose="020B0600000101010101" charset="-127"/>
                <a:ea typeface="Pretendard Medium" panose="020B0600000101010101" charset="-127"/>
              </a:rPr>
              <a:t>.</a:t>
            </a:r>
            <a:endParaRPr lang="ko-KR" altLang="en-US" sz="2400" dirty="0">
              <a:solidFill>
                <a:schemeClr val="tx1"/>
              </a:solidFill>
              <a:latin typeface="Pretendard Medium" panose="020B0600000101010101" charset="-127"/>
              <a:ea typeface="Pretendard Medium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492504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0E16B-9D05-99C0-1AD1-2EAB01045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3">
            <a:extLst>
              <a:ext uri="{FF2B5EF4-FFF2-40B4-BE49-F238E27FC236}">
                <a16:creationId xmlns:a16="http://schemas.microsoft.com/office/drawing/2014/main" id="{FF1EB15D-1B61-3C23-80BC-16558784155D}"/>
              </a:ext>
            </a:extLst>
          </p:cNvPr>
          <p:cNvSpPr txBox="1"/>
          <p:nvPr/>
        </p:nvSpPr>
        <p:spPr>
          <a:xfrm>
            <a:off x="6499812" y="4254500"/>
            <a:ext cx="5288377" cy="927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ctr">
              <a:lnSpc>
                <a:spcPct val="99600"/>
              </a:lnSpc>
            </a:pPr>
            <a:r>
              <a:rPr lang="ko-KR" altLang="en-US" sz="5200" dirty="0">
                <a:solidFill>
                  <a:srgbClr val="000000"/>
                </a:solidFill>
                <a:latin typeface="Pretendard Bold" panose="020B0600000101010101" charset="-127"/>
                <a:ea typeface="Pretendard Bold" panose="020B0600000101010101" charset="-127"/>
              </a:rPr>
              <a:t>감사합니다</a:t>
            </a:r>
            <a:endParaRPr lang="ko-KR" sz="5200" b="0" i="0" u="none" strike="noStrike" dirty="0">
              <a:solidFill>
                <a:srgbClr val="000000"/>
              </a:solidFill>
              <a:ea typeface="Pretendard Bold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4D81B6F-AD43-AC44-AFE5-0201F50CED57}"/>
              </a:ext>
            </a:extLst>
          </p:cNvPr>
          <p:cNvCxnSpPr>
            <a:cxnSpLocks/>
          </p:cNvCxnSpPr>
          <p:nvPr/>
        </p:nvCxnSpPr>
        <p:spPr>
          <a:xfrm>
            <a:off x="4610100" y="5219700"/>
            <a:ext cx="9067800" cy="0"/>
          </a:xfrm>
          <a:prstGeom prst="line">
            <a:avLst/>
          </a:prstGeom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353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1782</TotalTime>
  <Words>703</Words>
  <Application>Microsoft Office PowerPoint</Application>
  <PresentationFormat>사용자 지정</PresentationFormat>
  <Paragraphs>204</Paragraphs>
  <Slides>21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Pretendard Bold</vt:lpstr>
      <vt:lpstr>맑은 고딕</vt:lpstr>
      <vt:lpstr>Arial</vt:lpstr>
      <vt:lpstr>Pretendard Medium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길준형</dc:creator>
  <cp:lastModifiedBy>JUN HYEONG GIL</cp:lastModifiedBy>
  <cp:revision>483</cp:revision>
  <dcterms:created xsi:type="dcterms:W3CDTF">2006-08-16T00:00:00Z</dcterms:created>
  <dcterms:modified xsi:type="dcterms:W3CDTF">2025-06-10T13:23:04Z</dcterms:modified>
</cp:coreProperties>
</file>